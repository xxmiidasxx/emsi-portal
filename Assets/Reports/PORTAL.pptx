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Inter" panose="020B0604020202020204" charset="0"/>
      <p:regular r:id="rId17"/>
      <p:bold r:id="rId18"/>
      <p:italic r:id="rId19"/>
      <p:boldItalic r:id="rId20"/>
    </p:embeddedFont>
    <p:embeddedFont>
      <p:font typeface="Inter Medium" panose="020B0604020202020204" charset="0"/>
      <p:regular r:id="rId21"/>
      <p:bold r:id="rId22"/>
      <p:italic r:id="rId23"/>
      <p:boldItalic r:id="rId24"/>
    </p:embeddedFont>
    <p:embeddedFont>
      <p:font typeface="Inter SemiBold" panose="020B0604020202020204" charset="0"/>
      <p:regular r:id="rId25"/>
      <p:bold r:id="rId26"/>
      <p:italic r:id="rId27"/>
      <p:boldItalic r:id="rId28"/>
    </p:embeddedFont>
    <p:embeddedFont>
      <p:font typeface="Montserrat" pitchFamily="2" charset="0"/>
      <p:regular r:id="rId29"/>
      <p:bold r:id="rId30"/>
      <p:italic r:id="rId31"/>
      <p:boldItalic r:id="rId32"/>
    </p:embeddedFont>
    <p:embeddedFont>
      <p:font typeface="Poppins" panose="00000500000000000000" pitchFamily="2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0060"/>
    <a:srgbClr val="000000"/>
    <a:srgbClr val="906DFF"/>
    <a:srgbClr val="4D15FF"/>
    <a:srgbClr val="6600FF"/>
    <a:srgbClr val="5B00E2"/>
    <a:srgbClr val="A4FF1D"/>
    <a:srgbClr val="B0B9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12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schemas.openxmlformats.org/officeDocument/2006/relationships/theme" Target="theme/theme1.xml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font" Target="fonts/font20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font" Target="fonts/font19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>
          <a:extLst>
            <a:ext uri="{FF2B5EF4-FFF2-40B4-BE49-F238E27FC236}">
              <a16:creationId xmlns:a16="http://schemas.microsoft.com/office/drawing/2014/main" id="{B25BD696-6A9B-9E9A-AE40-3239F9E6B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3:notes">
            <a:extLst>
              <a:ext uri="{FF2B5EF4-FFF2-40B4-BE49-F238E27FC236}">
                <a16:creationId xmlns:a16="http://schemas.microsoft.com/office/drawing/2014/main" id="{4F407BC3-379E-B662-27EE-5C3E7D6A89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13:notes">
            <a:extLst>
              <a:ext uri="{FF2B5EF4-FFF2-40B4-BE49-F238E27FC236}">
                <a16:creationId xmlns:a16="http://schemas.microsoft.com/office/drawing/2014/main" id="{E3EB7DAE-B67B-D499-7088-82C21F7695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6083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2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openxmlformats.org/officeDocument/2006/relationships/image" Target="../media/image2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2.png"/><Relationship Id="rId4" Type="http://schemas.openxmlformats.org/officeDocument/2006/relationships/image" Target="../media/image4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3" Type="http://schemas.openxmlformats.org/officeDocument/2006/relationships/image" Target="../media/image1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2.png"/><Relationship Id="rId9" Type="http://schemas.openxmlformats.org/officeDocument/2006/relationships/image" Target="../media/image5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3" Type="http://schemas.openxmlformats.org/officeDocument/2006/relationships/image" Target="../media/image1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5" Type="http://schemas.openxmlformats.org/officeDocument/2006/relationships/image" Target="../media/image65.png"/><Relationship Id="rId10" Type="http://schemas.openxmlformats.org/officeDocument/2006/relationships/image" Target="../media/image60.png"/><Relationship Id="rId4" Type="http://schemas.openxmlformats.org/officeDocument/2006/relationships/image" Target="../media/image2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74.png"/><Relationship Id="rId3" Type="http://schemas.openxmlformats.org/officeDocument/2006/relationships/image" Target="../media/image1.png"/><Relationship Id="rId7" Type="http://schemas.openxmlformats.org/officeDocument/2006/relationships/image" Target="../media/image69.png"/><Relationship Id="rId12" Type="http://schemas.openxmlformats.org/officeDocument/2006/relationships/image" Target="../media/image73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7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11" Type="http://schemas.openxmlformats.org/officeDocument/2006/relationships/image" Target="../media/image72.png"/><Relationship Id="rId5" Type="http://schemas.openxmlformats.org/officeDocument/2006/relationships/image" Target="../media/image67.png"/><Relationship Id="rId15" Type="http://schemas.openxmlformats.org/officeDocument/2006/relationships/image" Target="../media/image76.png"/><Relationship Id="rId10" Type="http://schemas.openxmlformats.org/officeDocument/2006/relationships/image" Target="../media/image71.png"/><Relationship Id="rId4" Type="http://schemas.openxmlformats.org/officeDocument/2006/relationships/image" Target="../media/image2.png"/><Relationship Id="rId9" Type="http://schemas.openxmlformats.org/officeDocument/2006/relationships/image" Target="../media/image70.png"/><Relationship Id="rId14" Type="http://schemas.openxmlformats.org/officeDocument/2006/relationships/image" Target="../media/image7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1.png"/><Relationship Id="rId7" Type="http://schemas.openxmlformats.org/officeDocument/2006/relationships/image" Target="../media/image80.png"/><Relationship Id="rId12" Type="http://schemas.openxmlformats.org/officeDocument/2006/relationships/image" Target="../media/image8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5" Type="http://schemas.openxmlformats.org/officeDocument/2006/relationships/image" Target="../media/image78.png"/><Relationship Id="rId10" Type="http://schemas.openxmlformats.org/officeDocument/2006/relationships/image" Target="../media/image83.png"/><Relationship Id="rId4" Type="http://schemas.openxmlformats.org/officeDocument/2006/relationships/image" Target="../media/image2.png"/><Relationship Id="rId9" Type="http://schemas.openxmlformats.org/officeDocument/2006/relationships/image" Target="../media/image8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92.png"/><Relationship Id="rId3" Type="http://schemas.openxmlformats.org/officeDocument/2006/relationships/hyperlink" Target="http://localhost:5173/" TargetMode="External"/><Relationship Id="rId7" Type="http://schemas.openxmlformats.org/officeDocument/2006/relationships/image" Target="../media/image34.png"/><Relationship Id="rId12" Type="http://schemas.openxmlformats.org/officeDocument/2006/relationships/image" Target="../media/image9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90.png"/><Relationship Id="rId5" Type="http://schemas.openxmlformats.org/officeDocument/2006/relationships/image" Target="../media/image86.png"/><Relationship Id="rId10" Type="http://schemas.openxmlformats.org/officeDocument/2006/relationships/image" Target="../media/image89.png"/><Relationship Id="rId4" Type="http://schemas.openxmlformats.org/officeDocument/2006/relationships/image" Target="../media/image1.png"/><Relationship Id="rId9" Type="http://schemas.openxmlformats.org/officeDocument/2006/relationships/image" Target="../media/image8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01.png"/><Relationship Id="rId3" Type="http://schemas.openxmlformats.org/officeDocument/2006/relationships/image" Target="../media/image1.png"/><Relationship Id="rId7" Type="http://schemas.openxmlformats.org/officeDocument/2006/relationships/image" Target="../media/image95.png"/><Relationship Id="rId12" Type="http://schemas.openxmlformats.org/officeDocument/2006/relationships/image" Target="../media/image10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5" Type="http://schemas.openxmlformats.org/officeDocument/2006/relationships/image" Target="../media/image93.png"/><Relationship Id="rId10" Type="http://schemas.openxmlformats.org/officeDocument/2006/relationships/image" Target="../media/image98.png"/><Relationship Id="rId4" Type="http://schemas.openxmlformats.org/officeDocument/2006/relationships/image" Target="../media/image2.png"/><Relationship Id="rId9" Type="http://schemas.openxmlformats.org/officeDocument/2006/relationships/image" Target="../media/image9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.png"/><Relationship Id="rId7" Type="http://schemas.openxmlformats.org/officeDocument/2006/relationships/image" Target="../media/image104.png"/><Relationship Id="rId12" Type="http://schemas.openxmlformats.org/officeDocument/2006/relationships/image" Target="../media/image10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3.png"/><Relationship Id="rId11" Type="http://schemas.openxmlformats.org/officeDocument/2006/relationships/image" Target="../media/image108.png"/><Relationship Id="rId5" Type="http://schemas.openxmlformats.org/officeDocument/2006/relationships/image" Target="../media/image102.png"/><Relationship Id="rId10" Type="http://schemas.openxmlformats.org/officeDocument/2006/relationships/image" Target="../media/image107.png"/><Relationship Id="rId4" Type="http://schemas.openxmlformats.org/officeDocument/2006/relationships/image" Target="../media/image2.png"/><Relationship Id="rId9" Type="http://schemas.openxmlformats.org/officeDocument/2006/relationships/image" Target="../media/image10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youtu.be/wGRF3GQ4Wdk?si=i7kbv1nFr2Ps5vT-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5" Type="http://schemas.openxmlformats.org/officeDocument/2006/relationships/hyperlink" Target="https://github.com/xxMIIDASxx/PORTAL.git" TargetMode="External"/><Relationship Id="rId4" Type="http://schemas.openxmlformats.org/officeDocument/2006/relationships/image" Target="../media/image2.png"/><Relationship Id="rId9" Type="http://schemas.openxmlformats.org/officeDocument/2006/relationships/image" Target="../media/image1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09812" y="3420367"/>
            <a:ext cx="7572375" cy="145732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19700" y="5258692"/>
            <a:ext cx="1752600" cy="46672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8" name="Google Shape;88;p13"/>
          <p:cNvSpPr txBox="1"/>
          <p:nvPr/>
        </p:nvSpPr>
        <p:spPr>
          <a:xfrm>
            <a:off x="4105751" y="2056507"/>
            <a:ext cx="3980497" cy="77559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200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PORTAL</a:t>
            </a:r>
            <a:endParaRPr lang="fr-FR" noProof="0"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3043237" y="2791717"/>
            <a:ext cx="61055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50" b="0" i="0" u="none" strike="noStrike" cap="none" noProof="0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Application Web de Gestion des Présences et de la Scolarité</a:t>
            </a:r>
            <a:endParaRPr lang="fr-FR" noProof="0"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2605087" y="3715642"/>
            <a:ext cx="69818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 b="1" i="0" u="none" strike="noStrike" cap="none" noProof="0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Équipe :</a:t>
            </a:r>
            <a:r>
              <a:rPr lang="fr-FR" sz="1350" b="0" i="0" u="none" strike="noStrike" cap="none" noProof="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O. Bakkali, A. </a:t>
            </a:r>
            <a:r>
              <a:rPr lang="fr-FR" sz="1350" b="0" i="0" u="none" strike="noStrike" cap="none" noProof="0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Ahrrar</a:t>
            </a:r>
            <a:r>
              <a:rPr lang="fr-FR" sz="1350" b="0" i="0" u="none" strike="noStrike" cap="none" noProof="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A. </a:t>
            </a:r>
            <a:r>
              <a:rPr lang="fr-FR" sz="1350" b="0" i="0" u="none" strike="noStrike" cap="none" noProof="0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Habz</a:t>
            </a:r>
            <a:r>
              <a:rPr lang="fr-FR" sz="1350" b="0" i="0" u="none" strike="noStrike" cap="none" noProof="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B. </a:t>
            </a:r>
            <a:r>
              <a:rPr lang="fr-FR" sz="1350" b="0" i="0" u="none" strike="noStrike" cap="none" noProof="0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Doukhana</a:t>
            </a:r>
            <a:r>
              <a:rPr lang="fr-FR" sz="1350" b="0" i="0" u="none" strike="noStrike" cap="none" noProof="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B. Mesbahi</a:t>
            </a:r>
            <a:endParaRPr lang="fr-FR" noProof="0"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2605087" y="4029967"/>
            <a:ext cx="6981825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 b="1" i="0" u="none" strike="noStrike" cap="none" noProof="0" dirty="0" err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Encadrente</a:t>
            </a:r>
            <a:r>
              <a:rPr lang="fr-FR" sz="1350" b="1" i="0" u="none" strike="noStrike" cap="none" noProof="0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:</a:t>
            </a:r>
            <a:r>
              <a:rPr lang="fr-FR" sz="1350" b="0" i="0" u="none" strike="noStrike" cap="none" noProof="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Pr. </a:t>
            </a:r>
            <a:r>
              <a:rPr lang="fr-FR" sz="1350" b="0" i="0" u="none" strike="noStrike" cap="none" noProof="0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Abroun</a:t>
            </a:r>
            <a:r>
              <a:rPr lang="fr-FR" sz="1350" b="0" i="0" u="none" strike="noStrike" cap="none" noProof="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fr-FR" sz="1350" b="0" i="0" u="none" strike="noStrike" cap="none" noProof="0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Soundouss</a:t>
            </a:r>
            <a:endParaRPr lang="fr-FR" noProof="0" dirty="0"/>
          </a:p>
        </p:txBody>
      </p:sp>
      <p:sp>
        <p:nvSpPr>
          <p:cNvPr id="93" name="Google Shape;93;p13"/>
          <p:cNvSpPr txBox="1"/>
          <p:nvPr/>
        </p:nvSpPr>
        <p:spPr>
          <a:xfrm>
            <a:off x="2605087" y="4420492"/>
            <a:ext cx="69818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0" i="0" u="none" strike="noStrike" cap="none" noProof="0" dirty="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EMSI TANGER — INGÉNIERIE INFORMATIQUE ET RÉSEAUX · 2025/2026</a:t>
            </a:r>
            <a:endParaRPr lang="fr-FR" noProof="0" dirty="0"/>
          </a:p>
        </p:txBody>
      </p:sp>
      <p:pic>
        <p:nvPicPr>
          <p:cNvPr id="94" name="Google Shape;94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24625" y="5406329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1307698-B788-39ED-3945-586EFD5E3E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74940" y="1132583"/>
            <a:ext cx="842118" cy="89112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4825" y="579983"/>
            <a:ext cx="11049000" cy="57150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2" name="Google Shape;112;p14"/>
          <p:cNvSpPr txBox="1"/>
          <p:nvPr/>
        </p:nvSpPr>
        <p:spPr>
          <a:xfrm>
            <a:off x="1047750" y="952500"/>
            <a:ext cx="10601325" cy="40764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50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Plan de la Présentation</a:t>
            </a:r>
            <a:endParaRPr lang="fr-FR" noProof="0" dirty="0"/>
          </a:p>
        </p:txBody>
      </p:sp>
      <p:sp>
        <p:nvSpPr>
          <p:cNvPr id="113" name="Google Shape;113;p14"/>
          <p:cNvSpPr/>
          <p:nvPr/>
        </p:nvSpPr>
        <p:spPr>
          <a:xfrm>
            <a:off x="1047750" y="1483965"/>
            <a:ext cx="10096500" cy="1905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7750" y="2427833"/>
            <a:ext cx="4857750" cy="819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427833"/>
            <a:ext cx="4857750" cy="819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7750" y="3437483"/>
            <a:ext cx="4857750" cy="819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3437483"/>
            <a:ext cx="4857750" cy="819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47750" y="4447133"/>
            <a:ext cx="4857750" cy="819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6500" y="4447133"/>
            <a:ext cx="4857750" cy="819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247775" y="2627858"/>
            <a:ext cx="419100" cy="4191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86525" y="2627858"/>
            <a:ext cx="419100" cy="4191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247775" y="3637508"/>
            <a:ext cx="419100" cy="4191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86525" y="3637508"/>
            <a:ext cx="419100" cy="4191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247775" y="4647158"/>
            <a:ext cx="419100" cy="4191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5" name="Google Shape;115;p14"/>
          <p:cNvSpPr txBox="1"/>
          <p:nvPr/>
        </p:nvSpPr>
        <p:spPr>
          <a:xfrm>
            <a:off x="1857375" y="2566541"/>
            <a:ext cx="2350293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Introduction &amp; Contexte</a:t>
            </a:r>
            <a:endParaRPr lang="fr-FR" noProof="0" dirty="0"/>
          </a:p>
        </p:txBody>
      </p:sp>
      <p:sp>
        <p:nvSpPr>
          <p:cNvPr id="116" name="Google Shape;116;p14"/>
          <p:cNvSpPr txBox="1"/>
          <p:nvPr/>
        </p:nvSpPr>
        <p:spPr>
          <a:xfrm>
            <a:off x="1857375" y="2810321"/>
            <a:ext cx="22383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0" i="0" u="none" strike="noStrike" cap="none" noProof="0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Problématique et objectifs du projet</a:t>
            </a:r>
            <a:endParaRPr lang="fr-FR" noProof="0" dirty="0"/>
          </a:p>
        </p:txBody>
      </p:sp>
      <p:sp>
        <p:nvSpPr>
          <p:cNvPr id="117" name="Google Shape;117;p14"/>
          <p:cNvSpPr txBox="1"/>
          <p:nvPr/>
        </p:nvSpPr>
        <p:spPr>
          <a:xfrm>
            <a:off x="7096125" y="2634555"/>
            <a:ext cx="2710338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Architecture &amp; Technologies</a:t>
            </a:r>
            <a:endParaRPr lang="fr-FR" noProof="0" dirty="0"/>
          </a:p>
        </p:txBody>
      </p:sp>
      <p:sp>
        <p:nvSpPr>
          <p:cNvPr id="118" name="Google Shape;118;p14"/>
          <p:cNvSpPr txBox="1"/>
          <p:nvPr/>
        </p:nvSpPr>
        <p:spPr>
          <a:xfrm>
            <a:off x="7096125" y="2878335"/>
            <a:ext cx="25812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0" i="0" u="none" strike="noStrike" cap="none" noProof="0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Stack technique et architecture REST</a:t>
            </a:r>
            <a:endParaRPr lang="fr-FR" noProof="0" dirty="0"/>
          </a:p>
        </p:txBody>
      </p:sp>
      <p:sp>
        <p:nvSpPr>
          <p:cNvPr id="119" name="Google Shape;119;p14"/>
          <p:cNvSpPr txBox="1"/>
          <p:nvPr/>
        </p:nvSpPr>
        <p:spPr>
          <a:xfrm>
            <a:off x="1857375" y="3593306"/>
            <a:ext cx="2600325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Structure du Projet</a:t>
            </a:r>
            <a:endParaRPr lang="fr-FR" noProof="0" dirty="0"/>
          </a:p>
        </p:txBody>
      </p:sp>
      <p:sp>
        <p:nvSpPr>
          <p:cNvPr id="120" name="Google Shape;120;p14"/>
          <p:cNvSpPr txBox="1"/>
          <p:nvPr/>
        </p:nvSpPr>
        <p:spPr>
          <a:xfrm>
            <a:off x="1857375" y="3837086"/>
            <a:ext cx="24765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0" i="0" u="none" strike="noStrike" cap="none" noProof="0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Composition des modules et répertoires</a:t>
            </a:r>
            <a:endParaRPr lang="fr-FR" noProof="0" dirty="0"/>
          </a:p>
        </p:txBody>
      </p:sp>
      <p:sp>
        <p:nvSpPr>
          <p:cNvPr id="121" name="Google Shape;121;p14"/>
          <p:cNvSpPr txBox="1"/>
          <p:nvPr/>
        </p:nvSpPr>
        <p:spPr>
          <a:xfrm>
            <a:off x="7096125" y="3644205"/>
            <a:ext cx="2540317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Acteurs &amp; Fonctionnement</a:t>
            </a:r>
            <a:endParaRPr lang="fr-FR" noProof="0" dirty="0"/>
          </a:p>
        </p:txBody>
      </p:sp>
      <p:sp>
        <p:nvSpPr>
          <p:cNvPr id="122" name="Google Shape;122;p14"/>
          <p:cNvSpPr txBox="1"/>
          <p:nvPr/>
        </p:nvSpPr>
        <p:spPr>
          <a:xfrm>
            <a:off x="7096125" y="3887985"/>
            <a:ext cx="24193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0" i="0" u="none" strike="noStrike" cap="none" noProof="0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Rôles, workflows et cas d'utilisation</a:t>
            </a:r>
            <a:endParaRPr lang="fr-FR" noProof="0" dirty="0"/>
          </a:p>
        </p:txBody>
      </p:sp>
      <p:sp>
        <p:nvSpPr>
          <p:cNvPr id="123" name="Google Shape;123;p14"/>
          <p:cNvSpPr txBox="1"/>
          <p:nvPr/>
        </p:nvSpPr>
        <p:spPr>
          <a:xfrm>
            <a:off x="1857375" y="4578994"/>
            <a:ext cx="2520315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Démonstration Live</a:t>
            </a:r>
            <a:endParaRPr lang="fr-FR" noProof="0" dirty="0"/>
          </a:p>
        </p:txBody>
      </p:sp>
      <p:sp>
        <p:nvSpPr>
          <p:cNvPr id="124" name="Google Shape;124;p14"/>
          <p:cNvSpPr txBox="1"/>
          <p:nvPr/>
        </p:nvSpPr>
        <p:spPr>
          <a:xfrm>
            <a:off x="1857375" y="4822774"/>
            <a:ext cx="24003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0" i="0" u="none" strike="noStrike" cap="none" noProof="0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Démonstration des fonctionnalités clés</a:t>
            </a:r>
            <a:endParaRPr lang="fr-FR" noProof="0" dirty="0"/>
          </a:p>
        </p:txBody>
      </p:sp>
      <p:sp>
        <p:nvSpPr>
          <p:cNvPr id="126" name="Google Shape;126;p14"/>
          <p:cNvSpPr txBox="1"/>
          <p:nvPr/>
        </p:nvSpPr>
        <p:spPr>
          <a:xfrm>
            <a:off x="7096125" y="4653855"/>
            <a:ext cx="2520315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Perspectives &amp; Conclusion</a:t>
            </a:r>
            <a:endParaRPr lang="fr-FR" noProof="0" dirty="0"/>
          </a:p>
        </p:txBody>
      </p:sp>
      <p:sp>
        <p:nvSpPr>
          <p:cNvPr id="127" name="Google Shape;127;p14"/>
          <p:cNvSpPr txBox="1"/>
          <p:nvPr/>
        </p:nvSpPr>
        <p:spPr>
          <a:xfrm>
            <a:off x="7096125" y="4897635"/>
            <a:ext cx="24003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0" i="0" u="none" strike="noStrike" cap="none" noProof="0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Améliorations futures et bilan</a:t>
            </a:r>
            <a:endParaRPr lang="fr-FR" noProof="0" dirty="0"/>
          </a:p>
        </p:txBody>
      </p:sp>
      <p:pic>
        <p:nvPicPr>
          <p:cNvPr id="5" name="Google Shape;390;p23" descr="image.png">
            <a:extLst>
              <a:ext uri="{FF2B5EF4-FFF2-40B4-BE49-F238E27FC236}">
                <a16:creationId xmlns:a16="http://schemas.microsoft.com/office/drawing/2014/main" id="{98A2F57E-AE89-7542-EB1C-DB6BAB82AFEF}"/>
              </a:ext>
            </a:extLst>
          </p:cNvPr>
          <p:cNvPicPr preferRelativeResize="0"/>
          <p:nvPr/>
        </p:nvPicPr>
        <p:blipFill rotWithShape="1">
          <a:blip r:embed="rId13">
            <a:clrChange>
              <a:clrFrom>
                <a:srgbClr val="473FCF">
                  <a:alpha val="90196"/>
                </a:srgbClr>
              </a:clrFrom>
              <a:clrTo>
                <a:srgbClr val="473FCF">
                  <a:alpha val="0"/>
                </a:srgbClr>
              </a:clrTo>
            </a:clrChange>
            <a:alphaModFix/>
          </a:blip>
          <a:srcRect/>
          <a:stretch/>
        </p:blipFill>
        <p:spPr>
          <a:xfrm>
            <a:off x="6477000" y="4648943"/>
            <a:ext cx="419100" cy="4191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5" name="Google Shape;125;p14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610350" y="4770983"/>
            <a:ext cx="17145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6" name="Google Shape;13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6324" y="5189190"/>
            <a:ext cx="10067926" cy="82232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47750" y="1788765"/>
            <a:ext cx="10096500" cy="100012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4" name="Google Shape;134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47750" y="2922240"/>
            <a:ext cx="10096500" cy="100012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5" name="Google Shape;135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47750" y="4055715"/>
            <a:ext cx="10096500" cy="100012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8" name="Google Shape;138;p15"/>
          <p:cNvSpPr txBox="1"/>
          <p:nvPr/>
        </p:nvSpPr>
        <p:spPr>
          <a:xfrm>
            <a:off x="1047750" y="952500"/>
            <a:ext cx="10601325" cy="40764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50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Contexte &amp; Problématique</a:t>
            </a:r>
            <a:endParaRPr lang="fr-FR" noProof="0" dirty="0"/>
          </a:p>
        </p:txBody>
      </p:sp>
      <p:sp>
        <p:nvSpPr>
          <p:cNvPr id="139" name="Google Shape;139;p15"/>
          <p:cNvSpPr/>
          <p:nvPr/>
        </p:nvSpPr>
        <p:spPr>
          <a:xfrm>
            <a:off x="1047750" y="1483965"/>
            <a:ext cx="10096500" cy="1905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247775" y="1988790"/>
            <a:ext cx="457200" cy="4572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1" name="Google Shape;141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247775" y="3122265"/>
            <a:ext cx="457200" cy="4572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2" name="Google Shape;142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247775" y="4255740"/>
            <a:ext cx="457200" cy="4572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3" name="Google Shape;143;p15"/>
          <p:cNvSpPr txBox="1"/>
          <p:nvPr/>
        </p:nvSpPr>
        <p:spPr>
          <a:xfrm>
            <a:off x="1322784" y="5257800"/>
            <a:ext cx="10051256" cy="249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 b="1" i="0" u="none" strike="noStrike" cap="none" noProof="0" dirty="0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La Question Centrale</a:t>
            </a:r>
            <a:endParaRPr lang="fr-FR" noProof="0" dirty="0"/>
          </a:p>
        </p:txBody>
      </p:sp>
      <p:sp>
        <p:nvSpPr>
          <p:cNvPr id="144" name="Google Shape;144;p15"/>
          <p:cNvSpPr txBox="1"/>
          <p:nvPr/>
        </p:nvSpPr>
        <p:spPr>
          <a:xfrm>
            <a:off x="1309687" y="5448370"/>
            <a:ext cx="957262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0" i="0" u="none" strike="noStrike" cap="none" noProof="0" dirty="0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Comment offrir aux établissements d'enseignement supérieur un écosystème numérique centralisé, intuitif et fiable pour la gestion de la scolarité ?</a:t>
            </a:r>
            <a:endParaRPr lang="fr-FR" sz="1200" noProof="0" dirty="0"/>
          </a:p>
        </p:txBody>
      </p:sp>
      <p:pic>
        <p:nvPicPr>
          <p:cNvPr id="145" name="Google Shape;145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381125" y="212214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5"/>
          <p:cNvSpPr txBox="1"/>
          <p:nvPr/>
        </p:nvSpPr>
        <p:spPr>
          <a:xfrm>
            <a:off x="1943100" y="1950690"/>
            <a:ext cx="875109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Gestion Manuelle Chronophage</a:t>
            </a:r>
            <a:endParaRPr lang="fr-FR" noProof="0" dirty="0"/>
          </a:p>
        </p:txBody>
      </p:sp>
      <p:sp>
        <p:nvSpPr>
          <p:cNvPr id="147" name="Google Shape;147;p15"/>
          <p:cNvSpPr txBox="1"/>
          <p:nvPr/>
        </p:nvSpPr>
        <p:spPr>
          <a:xfrm>
            <a:off x="1943100" y="2198340"/>
            <a:ext cx="83343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Le suivi des présences sur format papier ou Excel est lent, fastidieux et particulièrement sujet aux erreurs humaines.</a:t>
            </a:r>
            <a:endParaRPr lang="fr-FR" noProof="0" dirty="0"/>
          </a:p>
        </p:txBody>
      </p:sp>
      <p:pic>
        <p:nvPicPr>
          <p:cNvPr id="148" name="Google Shape;148;p1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381125" y="325561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5"/>
          <p:cNvSpPr txBox="1"/>
          <p:nvPr/>
        </p:nvSpPr>
        <p:spPr>
          <a:xfrm>
            <a:off x="1943100" y="3036540"/>
            <a:ext cx="913114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Manque de Visibilité</a:t>
            </a:r>
            <a:endParaRPr lang="fr-FR" noProof="0" dirty="0"/>
          </a:p>
        </p:txBody>
      </p:sp>
      <p:sp>
        <p:nvSpPr>
          <p:cNvPr id="150" name="Google Shape;150;p15"/>
          <p:cNvSpPr txBox="1"/>
          <p:nvPr/>
        </p:nvSpPr>
        <p:spPr>
          <a:xfrm>
            <a:off x="1943100" y="3322290"/>
            <a:ext cx="86963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L'absence d'un outil centralisé rend difficile la génération de statistiques fiables sur l'assiduité globale de l'établissement.</a:t>
            </a:r>
            <a:endParaRPr lang="fr-FR" noProof="0" dirty="0"/>
          </a:p>
        </p:txBody>
      </p:sp>
      <p:pic>
        <p:nvPicPr>
          <p:cNvPr id="151" name="Google Shape;151;p15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357312" y="4389090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5"/>
          <p:cNvSpPr txBox="1"/>
          <p:nvPr/>
        </p:nvSpPr>
        <p:spPr>
          <a:xfrm>
            <a:off x="1943100" y="4178845"/>
            <a:ext cx="936117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Dispersion des Données</a:t>
            </a:r>
            <a:endParaRPr lang="fr-FR" noProof="0" dirty="0"/>
          </a:p>
        </p:txBody>
      </p:sp>
      <p:sp>
        <p:nvSpPr>
          <p:cNvPr id="153" name="Google Shape;153;p15"/>
          <p:cNvSpPr txBox="1"/>
          <p:nvPr/>
        </p:nvSpPr>
        <p:spPr>
          <a:xfrm>
            <a:off x="1943100" y="4464595"/>
            <a:ext cx="8915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Notes, justifications et emplois du temps sont traités dans des silos déconnectés, freinant considérablement la coordination.</a:t>
            </a:r>
            <a:endParaRPr lang="fr-FR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4825" y="571500"/>
            <a:ext cx="11049000" cy="57150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9" name="Google Shape;15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38225" y="1550640"/>
            <a:ext cx="4905375" cy="233526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0" name="Google Shape;16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59341" y="1550640"/>
            <a:ext cx="4905375" cy="233526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1" name="Google Shape;161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47750" y="3990379"/>
            <a:ext cx="4895850" cy="203998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2" name="Google Shape;162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159341" y="3998863"/>
            <a:ext cx="4905375" cy="203150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4" name="Google Shape;164;p16"/>
          <p:cNvSpPr txBox="1"/>
          <p:nvPr/>
        </p:nvSpPr>
        <p:spPr>
          <a:xfrm>
            <a:off x="1047750" y="952500"/>
            <a:ext cx="10601325" cy="40764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50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Objectifs du Projet</a:t>
            </a:r>
            <a:endParaRPr lang="fr-FR" noProof="0" dirty="0"/>
          </a:p>
        </p:txBody>
      </p:sp>
      <p:sp>
        <p:nvSpPr>
          <p:cNvPr id="165" name="Google Shape;165;p16"/>
          <p:cNvSpPr/>
          <p:nvPr/>
        </p:nvSpPr>
        <p:spPr>
          <a:xfrm>
            <a:off x="1047750" y="1483965"/>
            <a:ext cx="10096500" cy="1905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333500" y="1855440"/>
            <a:ext cx="457200" cy="4572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7" name="Google Shape;167;p16"/>
          <p:cNvSpPr txBox="1"/>
          <p:nvPr/>
        </p:nvSpPr>
        <p:spPr>
          <a:xfrm>
            <a:off x="1333500" y="2493615"/>
            <a:ext cx="4530566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50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Centralisation</a:t>
            </a:r>
            <a:endParaRPr lang="fr-FR" noProof="0" dirty="0"/>
          </a:p>
        </p:txBody>
      </p:sp>
      <p:sp>
        <p:nvSpPr>
          <p:cNvPr id="168" name="Google Shape;168;p16"/>
          <p:cNvSpPr txBox="1"/>
          <p:nvPr/>
        </p:nvSpPr>
        <p:spPr>
          <a:xfrm>
            <a:off x="1333500" y="2859285"/>
            <a:ext cx="431482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Mettre en place une base de données unique et robuste pour consolider les profils, emplois du temps et registres d'appel en un seul endroit.</a:t>
            </a:r>
            <a:endParaRPr lang="fr-FR" noProof="0" dirty="0"/>
          </a:p>
        </p:txBody>
      </p:sp>
      <p:pic>
        <p:nvPicPr>
          <p:cNvPr id="169" name="Google Shape;169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54616" y="1845915"/>
            <a:ext cx="457200" cy="4572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0" name="Google Shape;170;p16"/>
          <p:cNvSpPr txBox="1"/>
          <p:nvPr/>
        </p:nvSpPr>
        <p:spPr>
          <a:xfrm>
            <a:off x="6454616" y="2493615"/>
            <a:ext cx="4530566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50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Automatisation</a:t>
            </a:r>
            <a:endParaRPr lang="fr-FR" noProof="0" dirty="0"/>
          </a:p>
        </p:txBody>
      </p:sp>
      <p:sp>
        <p:nvSpPr>
          <p:cNvPr id="171" name="Google Shape;171;p16"/>
          <p:cNvSpPr txBox="1"/>
          <p:nvPr/>
        </p:nvSpPr>
        <p:spPr>
          <a:xfrm>
            <a:off x="6454616" y="2859285"/>
            <a:ext cx="431482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Digitaliser les processus récurrents : calcul automatique des moyennes semestrielles, workflows d'approbation administratifs fluides.</a:t>
            </a:r>
            <a:endParaRPr lang="fr-FR" noProof="0" dirty="0"/>
          </a:p>
        </p:txBody>
      </p:sp>
      <p:pic>
        <p:nvPicPr>
          <p:cNvPr id="172" name="Google Shape;172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333500" y="4095154"/>
            <a:ext cx="457200" cy="4572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3" name="Google Shape;173;p16"/>
          <p:cNvSpPr txBox="1"/>
          <p:nvPr/>
        </p:nvSpPr>
        <p:spPr>
          <a:xfrm>
            <a:off x="1333500" y="4666654"/>
            <a:ext cx="4530566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50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Accessibilité</a:t>
            </a:r>
            <a:endParaRPr lang="fr-FR" noProof="0" dirty="0"/>
          </a:p>
        </p:txBody>
      </p:sp>
      <p:sp>
        <p:nvSpPr>
          <p:cNvPr id="174" name="Google Shape;174;p16"/>
          <p:cNvSpPr txBox="1"/>
          <p:nvPr/>
        </p:nvSpPr>
        <p:spPr>
          <a:xfrm>
            <a:off x="1333500" y="5032325"/>
            <a:ext cx="431482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Déployer des tableaux de bord interactifs et sécurisés pour chaque acteur, accessibles fluidement sur n'importe quel navigateur web.</a:t>
            </a:r>
            <a:endParaRPr lang="fr-FR" noProof="0" dirty="0"/>
          </a:p>
        </p:txBody>
      </p:sp>
      <p:pic>
        <p:nvPicPr>
          <p:cNvPr id="175" name="Google Shape;175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454616" y="4147170"/>
            <a:ext cx="457200" cy="4572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6" name="Google Shape;176;p16"/>
          <p:cNvSpPr txBox="1"/>
          <p:nvPr/>
        </p:nvSpPr>
        <p:spPr>
          <a:xfrm>
            <a:off x="6454616" y="4669371"/>
            <a:ext cx="4530566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50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Communication</a:t>
            </a:r>
            <a:endParaRPr lang="fr-FR" noProof="0" dirty="0"/>
          </a:p>
        </p:txBody>
      </p:sp>
      <p:sp>
        <p:nvSpPr>
          <p:cNvPr id="177" name="Google Shape;177;p16"/>
          <p:cNvSpPr txBox="1"/>
          <p:nvPr/>
        </p:nvSpPr>
        <p:spPr>
          <a:xfrm>
            <a:off x="6454616" y="5035042"/>
            <a:ext cx="431482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Diffuser des informations critiques en temps réel via un système de notifications multi-rôles parfaitement intégré à la plateforme.</a:t>
            </a:r>
            <a:endParaRPr lang="fr-FR" noProof="0" dirty="0"/>
          </a:p>
        </p:txBody>
      </p:sp>
      <p:pic>
        <p:nvPicPr>
          <p:cNvPr id="178" name="Google Shape;178;p16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462087" y="196021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540341" y="196021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6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419225" y="4209454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6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583203" y="4261470"/>
            <a:ext cx="20002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7" name="Google Shape;18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7750" y="1788765"/>
            <a:ext cx="4857750" cy="411673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8" name="Google Shape;18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1788765"/>
            <a:ext cx="4857750" cy="411673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90" name="Google Shape;190;p17"/>
          <p:cNvSpPr txBox="1"/>
          <p:nvPr/>
        </p:nvSpPr>
        <p:spPr>
          <a:xfrm>
            <a:off x="1047750" y="952500"/>
            <a:ext cx="10601325" cy="40764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50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La Stack Technique</a:t>
            </a:r>
            <a:endParaRPr lang="fr-FR" noProof="0" dirty="0"/>
          </a:p>
        </p:txBody>
      </p:sp>
      <p:sp>
        <p:nvSpPr>
          <p:cNvPr id="191" name="Google Shape;191;p17"/>
          <p:cNvSpPr/>
          <p:nvPr/>
        </p:nvSpPr>
        <p:spPr>
          <a:xfrm>
            <a:off x="1047750" y="1483965"/>
            <a:ext cx="10096500" cy="1905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 txBox="1"/>
          <p:nvPr/>
        </p:nvSpPr>
        <p:spPr>
          <a:xfrm>
            <a:off x="1876425" y="2226915"/>
            <a:ext cx="3830478" cy="3048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950" b="1" i="0" u="none" strike="noStrike" cap="none" noProof="0" dirty="0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 Frontend (Interface)</a:t>
            </a:r>
            <a:endParaRPr lang="fr-FR" noProof="0" dirty="0"/>
          </a:p>
        </p:txBody>
      </p:sp>
      <p:sp>
        <p:nvSpPr>
          <p:cNvPr id="193" name="Google Shape;193;p17"/>
          <p:cNvSpPr txBox="1"/>
          <p:nvPr/>
        </p:nvSpPr>
        <p:spPr>
          <a:xfrm>
            <a:off x="7077075" y="2226915"/>
            <a:ext cx="3870483" cy="3048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950" b="1" i="0" u="none" strike="noStrike" cap="none" noProof="0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 Backend (Logique &amp; API)</a:t>
            </a:r>
            <a:endParaRPr lang="fr-FR" noProof="0" dirty="0"/>
          </a:p>
        </p:txBody>
      </p:sp>
      <p:pic>
        <p:nvPicPr>
          <p:cNvPr id="194" name="Google Shape;194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28750" y="2226915"/>
            <a:ext cx="304800" cy="3048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95" name="Google Shape;195;p17"/>
          <p:cNvSpPr txBox="1"/>
          <p:nvPr/>
        </p:nvSpPr>
        <p:spPr>
          <a:xfrm>
            <a:off x="1619250" y="2817465"/>
            <a:ext cx="3905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 i="0" u="none" strike="noStrike" cap="none" noProof="0" dirty="0" err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React</a:t>
            </a:r>
            <a:r>
              <a:rPr lang="fr-FR" sz="1200" b="1" i="0" u="none" strike="noStrike" cap="none" noProof="0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19 :</a:t>
            </a:r>
            <a:r>
              <a:rPr lang="fr-FR" sz="120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UI déclarative avec composants modulaires et gestion d'état avancée.</a:t>
            </a:r>
            <a:endParaRPr lang="fr-FR" noProof="0" dirty="0"/>
          </a:p>
        </p:txBody>
      </p:sp>
      <p:sp>
        <p:nvSpPr>
          <p:cNvPr id="196" name="Google Shape;196;p17"/>
          <p:cNvSpPr txBox="1"/>
          <p:nvPr/>
        </p:nvSpPr>
        <p:spPr>
          <a:xfrm>
            <a:off x="1619250" y="3512790"/>
            <a:ext cx="3905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 i="0" u="none" strike="noStrike" cap="none" noProof="0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Vite 8 :</a:t>
            </a:r>
            <a:r>
              <a:rPr lang="fr-FR" sz="120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fr-FR" sz="1200" b="0" i="0" u="none" strike="noStrike" cap="none" noProof="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Bundler</a:t>
            </a:r>
            <a:r>
              <a:rPr lang="fr-FR" sz="120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ultra-rapide offrant un Hot Module Replacement (HMR) performant.</a:t>
            </a:r>
            <a:endParaRPr lang="fr-FR" noProof="0" dirty="0"/>
          </a:p>
        </p:txBody>
      </p:sp>
      <p:sp>
        <p:nvSpPr>
          <p:cNvPr id="197" name="Google Shape;197;p17"/>
          <p:cNvSpPr txBox="1"/>
          <p:nvPr/>
        </p:nvSpPr>
        <p:spPr>
          <a:xfrm>
            <a:off x="1619250" y="4208115"/>
            <a:ext cx="3905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 i="0" u="none" strike="noStrike" cap="none" noProof="0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Axios :</a:t>
            </a:r>
            <a:r>
              <a:rPr lang="fr-FR" sz="120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Client HTTP robuste pour la gestion des requêtes asynchrones vers l'API.</a:t>
            </a:r>
            <a:endParaRPr lang="fr-FR" noProof="0" dirty="0"/>
          </a:p>
        </p:txBody>
      </p:sp>
      <p:sp>
        <p:nvSpPr>
          <p:cNvPr id="198" name="Google Shape;198;p17"/>
          <p:cNvSpPr txBox="1"/>
          <p:nvPr/>
        </p:nvSpPr>
        <p:spPr>
          <a:xfrm>
            <a:off x="1619250" y="4903440"/>
            <a:ext cx="3905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 i="0" u="none" strike="noStrike" cap="none" noProof="0" dirty="0" err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React</a:t>
            </a:r>
            <a:r>
              <a:rPr lang="fr-FR" sz="1200" b="1" i="0" u="none" strike="noStrike" cap="none" noProof="0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Router v7 :</a:t>
            </a:r>
            <a:r>
              <a:rPr lang="fr-FR" sz="120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Navigation fluide et intuitive orientée Single Page Application (SPA).</a:t>
            </a:r>
            <a:endParaRPr lang="fr-FR" noProof="0" dirty="0"/>
          </a:p>
        </p:txBody>
      </p:sp>
      <p:pic>
        <p:nvPicPr>
          <p:cNvPr id="199" name="Google Shape;199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67500" y="2226915"/>
            <a:ext cx="266700" cy="3048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00" name="Google Shape;200;p17"/>
          <p:cNvSpPr txBox="1"/>
          <p:nvPr/>
        </p:nvSpPr>
        <p:spPr>
          <a:xfrm>
            <a:off x="6858000" y="2817465"/>
            <a:ext cx="3905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 i="0" u="none" strike="noStrike" cap="none" noProof="0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Python &amp; Django 6 :</a:t>
            </a:r>
            <a:r>
              <a:rPr lang="fr-FR" sz="120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Framework mature apportant sécurité, ORM natif et intégration fluide.</a:t>
            </a:r>
            <a:endParaRPr lang="fr-FR" noProof="0" dirty="0"/>
          </a:p>
        </p:txBody>
      </p:sp>
      <p:sp>
        <p:nvSpPr>
          <p:cNvPr id="201" name="Google Shape;201;p17"/>
          <p:cNvSpPr txBox="1"/>
          <p:nvPr/>
        </p:nvSpPr>
        <p:spPr>
          <a:xfrm>
            <a:off x="6858000" y="3512790"/>
            <a:ext cx="3905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 i="0" u="none" strike="noStrike" cap="none" noProof="0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DRF 3.17 :</a:t>
            </a:r>
            <a:r>
              <a:rPr lang="fr-FR" sz="120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(Django REST Framework) Création rapide de </a:t>
            </a:r>
            <a:r>
              <a:rPr lang="fr-FR" sz="1200" b="0" i="0" u="none" strike="noStrike" cap="none" noProof="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ViewSets</a:t>
            </a:r>
            <a:r>
              <a:rPr lang="fr-FR" sz="120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et sérialisation JSON.</a:t>
            </a:r>
            <a:endParaRPr lang="fr-FR" noProof="0" dirty="0"/>
          </a:p>
        </p:txBody>
      </p:sp>
      <p:sp>
        <p:nvSpPr>
          <p:cNvPr id="202" name="Google Shape;202;p17"/>
          <p:cNvSpPr txBox="1"/>
          <p:nvPr/>
        </p:nvSpPr>
        <p:spPr>
          <a:xfrm>
            <a:off x="6858000" y="4208115"/>
            <a:ext cx="3905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 i="0" u="none" strike="noStrike" cap="none" noProof="0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SQLite :</a:t>
            </a:r>
            <a:r>
              <a:rPr lang="fr-FR" sz="120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Base de données relationnelle légère et rapide, intégrée nativement.</a:t>
            </a:r>
            <a:endParaRPr lang="fr-FR" noProof="0" dirty="0"/>
          </a:p>
        </p:txBody>
      </p:sp>
      <p:sp>
        <p:nvSpPr>
          <p:cNvPr id="203" name="Google Shape;203;p17"/>
          <p:cNvSpPr txBox="1"/>
          <p:nvPr/>
        </p:nvSpPr>
        <p:spPr>
          <a:xfrm>
            <a:off x="6858000" y="4903440"/>
            <a:ext cx="3905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 i="0" u="none" strike="noStrike" cap="none" noProof="0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Pillow / </a:t>
            </a:r>
            <a:r>
              <a:rPr lang="fr-FR" sz="1200" b="1" i="0" u="none" strike="noStrike" cap="none" noProof="0" dirty="0" err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Dotenv</a:t>
            </a:r>
            <a:r>
              <a:rPr lang="fr-FR" sz="1200" b="1" i="0" u="none" strike="noStrike" cap="none" noProof="0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:</a:t>
            </a:r>
            <a:r>
              <a:rPr lang="fr-FR" sz="120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Gestion efficace des images de profil et des variables d'environnement.</a:t>
            </a:r>
            <a:endParaRPr lang="fr-FR" noProof="0" dirty="0"/>
          </a:p>
        </p:txBody>
      </p:sp>
      <p:sp>
        <p:nvSpPr>
          <p:cNvPr id="204" name="Google Shape;204;p17"/>
          <p:cNvSpPr txBox="1"/>
          <p:nvPr/>
        </p:nvSpPr>
        <p:spPr>
          <a:xfrm>
            <a:off x="1428750" y="2817465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 i="0" u="none" strike="noStrike" cap="none" noProof="0" dirty="0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lang="fr-FR" noProof="0" dirty="0"/>
          </a:p>
        </p:txBody>
      </p:sp>
      <p:sp>
        <p:nvSpPr>
          <p:cNvPr id="205" name="Google Shape;205;p17"/>
          <p:cNvSpPr txBox="1"/>
          <p:nvPr/>
        </p:nvSpPr>
        <p:spPr>
          <a:xfrm>
            <a:off x="1428750" y="3512790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 i="0" u="none" strike="noStrike" cap="none" noProof="0" dirty="0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lang="fr-FR" noProof="0" dirty="0"/>
          </a:p>
        </p:txBody>
      </p:sp>
      <p:sp>
        <p:nvSpPr>
          <p:cNvPr id="206" name="Google Shape;206;p17"/>
          <p:cNvSpPr txBox="1"/>
          <p:nvPr/>
        </p:nvSpPr>
        <p:spPr>
          <a:xfrm>
            <a:off x="1428750" y="4208115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 i="0" u="none" strike="noStrike" cap="none" noProof="0" dirty="0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lang="fr-FR" noProof="0" dirty="0"/>
          </a:p>
        </p:txBody>
      </p:sp>
      <p:sp>
        <p:nvSpPr>
          <p:cNvPr id="207" name="Google Shape;207;p17"/>
          <p:cNvSpPr txBox="1"/>
          <p:nvPr/>
        </p:nvSpPr>
        <p:spPr>
          <a:xfrm>
            <a:off x="1428750" y="4903440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 i="0" u="none" strike="noStrike" cap="none" noProof="0" dirty="0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lang="fr-FR" noProof="0" dirty="0"/>
          </a:p>
        </p:txBody>
      </p:sp>
      <p:sp>
        <p:nvSpPr>
          <p:cNvPr id="208" name="Google Shape;208;p17"/>
          <p:cNvSpPr txBox="1"/>
          <p:nvPr/>
        </p:nvSpPr>
        <p:spPr>
          <a:xfrm>
            <a:off x="6667500" y="2817465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 i="0" u="none" strike="noStrike" cap="none" noProof="0" dirty="0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lang="fr-FR" noProof="0" dirty="0"/>
          </a:p>
        </p:txBody>
      </p:sp>
      <p:sp>
        <p:nvSpPr>
          <p:cNvPr id="209" name="Google Shape;209;p17"/>
          <p:cNvSpPr txBox="1"/>
          <p:nvPr/>
        </p:nvSpPr>
        <p:spPr>
          <a:xfrm>
            <a:off x="6667500" y="3512790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 i="0" u="none" strike="noStrike" cap="none" noProof="0" dirty="0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lang="fr-FR" noProof="0" dirty="0"/>
          </a:p>
        </p:txBody>
      </p:sp>
      <p:sp>
        <p:nvSpPr>
          <p:cNvPr id="210" name="Google Shape;210;p17"/>
          <p:cNvSpPr txBox="1"/>
          <p:nvPr/>
        </p:nvSpPr>
        <p:spPr>
          <a:xfrm>
            <a:off x="6667500" y="4208115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 i="0" u="none" strike="noStrike" cap="none" noProof="0" dirty="0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lang="fr-FR" noProof="0" dirty="0"/>
          </a:p>
        </p:txBody>
      </p:sp>
      <p:sp>
        <p:nvSpPr>
          <p:cNvPr id="211" name="Google Shape;211;p17"/>
          <p:cNvSpPr txBox="1"/>
          <p:nvPr/>
        </p:nvSpPr>
        <p:spPr>
          <a:xfrm>
            <a:off x="6667500" y="4903440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 i="0" u="none" strike="noStrike" cap="none" noProof="0" dirty="0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lang="fr-FR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71382" y="2322165"/>
            <a:ext cx="4372867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19" name="Google Shape;219;p18"/>
          <p:cNvSpPr txBox="1"/>
          <p:nvPr/>
        </p:nvSpPr>
        <p:spPr>
          <a:xfrm>
            <a:off x="1047750" y="952500"/>
            <a:ext cx="10601325" cy="40764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50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Architecture Découplée REST</a:t>
            </a:r>
            <a:endParaRPr lang="fr-FR" noProof="0" dirty="0"/>
          </a:p>
        </p:txBody>
      </p:sp>
      <p:sp>
        <p:nvSpPr>
          <p:cNvPr id="220" name="Google Shape;220;p18"/>
          <p:cNvSpPr/>
          <p:nvPr/>
        </p:nvSpPr>
        <p:spPr>
          <a:xfrm>
            <a:off x="1047750" y="1483965"/>
            <a:ext cx="10096500" cy="1905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47750" y="1788765"/>
            <a:ext cx="5247382" cy="6858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22" name="Google Shape;222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71382" y="2322165"/>
            <a:ext cx="4372867" cy="38100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23" name="Google Shape;223;p18"/>
          <p:cNvSpPr txBox="1"/>
          <p:nvPr/>
        </p:nvSpPr>
        <p:spPr>
          <a:xfrm>
            <a:off x="1047750" y="2605733"/>
            <a:ext cx="5509751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SPA sans rechargement</a:t>
            </a:r>
            <a:endParaRPr lang="fr-FR" sz="1200" noProof="0" dirty="0"/>
          </a:p>
        </p:txBody>
      </p:sp>
      <p:sp>
        <p:nvSpPr>
          <p:cNvPr id="224" name="Google Shape;224;p18"/>
          <p:cNvSpPr txBox="1"/>
          <p:nvPr/>
        </p:nvSpPr>
        <p:spPr>
          <a:xfrm>
            <a:off x="1047750" y="2910533"/>
            <a:ext cx="5247382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Interface dynamique entièrement gérée côté client, offrant une navigation instantanée.</a:t>
            </a:r>
            <a:endParaRPr lang="fr-FR" sz="1200" noProof="0" dirty="0"/>
          </a:p>
        </p:txBody>
      </p:sp>
      <p:sp>
        <p:nvSpPr>
          <p:cNvPr id="225" name="Google Shape;225;p18"/>
          <p:cNvSpPr txBox="1"/>
          <p:nvPr/>
        </p:nvSpPr>
        <p:spPr>
          <a:xfrm>
            <a:off x="1047750" y="3444222"/>
            <a:ext cx="5509751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Échanges JSON asynchrones</a:t>
            </a:r>
            <a:endParaRPr lang="fr-FR" sz="1200" noProof="0" dirty="0"/>
          </a:p>
        </p:txBody>
      </p:sp>
      <p:sp>
        <p:nvSpPr>
          <p:cNvPr id="226" name="Google Shape;226;p18"/>
          <p:cNvSpPr txBox="1"/>
          <p:nvPr/>
        </p:nvSpPr>
        <p:spPr>
          <a:xfrm>
            <a:off x="1047750" y="3749022"/>
            <a:ext cx="5247382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Toute communication s'effectue via des requêtes HTTP asynchrones légères (Axios).</a:t>
            </a:r>
            <a:endParaRPr lang="fr-FR" sz="1200" noProof="0" dirty="0"/>
          </a:p>
        </p:txBody>
      </p:sp>
      <p:sp>
        <p:nvSpPr>
          <p:cNvPr id="227" name="Google Shape;227;p18"/>
          <p:cNvSpPr txBox="1"/>
          <p:nvPr/>
        </p:nvSpPr>
        <p:spPr>
          <a:xfrm>
            <a:off x="1047750" y="4303121"/>
            <a:ext cx="5509751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Logique centralisée Backend</a:t>
            </a:r>
            <a:endParaRPr lang="fr-FR" sz="1200" noProof="0" dirty="0"/>
          </a:p>
        </p:txBody>
      </p:sp>
      <p:sp>
        <p:nvSpPr>
          <p:cNvPr id="228" name="Google Shape;228;p18"/>
          <p:cNvSpPr txBox="1"/>
          <p:nvPr/>
        </p:nvSpPr>
        <p:spPr>
          <a:xfrm>
            <a:off x="1047750" y="4607921"/>
            <a:ext cx="5247382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 sécurité, l'ORM et la logique métier complexe sont strictement isolés côté serveur Django.</a:t>
            </a:r>
            <a:endParaRPr lang="fr-FR" sz="1200" noProof="0" dirty="0"/>
          </a:p>
        </p:txBody>
      </p:sp>
      <p:sp>
        <p:nvSpPr>
          <p:cNvPr id="229" name="Google Shape;229;p18"/>
          <p:cNvSpPr txBox="1"/>
          <p:nvPr/>
        </p:nvSpPr>
        <p:spPr>
          <a:xfrm>
            <a:off x="1047750" y="5210429"/>
            <a:ext cx="5509751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Déploiements indépendants</a:t>
            </a:r>
            <a:endParaRPr lang="fr-FR" sz="1200" noProof="0" dirty="0"/>
          </a:p>
        </p:txBody>
      </p:sp>
      <p:sp>
        <p:nvSpPr>
          <p:cNvPr id="230" name="Google Shape;230;p18"/>
          <p:cNvSpPr txBox="1"/>
          <p:nvPr/>
        </p:nvSpPr>
        <p:spPr>
          <a:xfrm>
            <a:off x="1047750" y="5515229"/>
            <a:ext cx="5247382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L'architecture permet au frontend et au backend d'évoluer et d'être déployés séparément.</a:t>
            </a:r>
            <a:endParaRPr lang="fr-FR" sz="1200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36" name="Google Shape;23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7750" y="1788765"/>
            <a:ext cx="4905375" cy="411673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37" name="Google Shape;237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1788765"/>
            <a:ext cx="4905375" cy="411673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39" name="Google Shape;239;p19"/>
          <p:cNvSpPr txBox="1"/>
          <p:nvPr/>
        </p:nvSpPr>
        <p:spPr>
          <a:xfrm>
            <a:off x="1047750" y="952500"/>
            <a:ext cx="10601325" cy="40764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50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Structure du Projet</a:t>
            </a:r>
            <a:endParaRPr lang="fr-FR" noProof="0" dirty="0"/>
          </a:p>
        </p:txBody>
      </p:sp>
      <p:sp>
        <p:nvSpPr>
          <p:cNvPr id="240" name="Google Shape;240;p19"/>
          <p:cNvSpPr/>
          <p:nvPr/>
        </p:nvSpPr>
        <p:spPr>
          <a:xfrm>
            <a:off x="1047750" y="1483965"/>
            <a:ext cx="10096500" cy="1905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9"/>
          <p:cNvSpPr txBox="1"/>
          <p:nvPr/>
        </p:nvSpPr>
        <p:spPr>
          <a:xfrm>
            <a:off x="1676400" y="2084040"/>
            <a:ext cx="4180522" cy="25137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50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backend/</a:t>
            </a:r>
            <a:endParaRPr lang="fr-FR" noProof="0" dirty="0"/>
          </a:p>
        </p:txBody>
      </p:sp>
      <p:sp>
        <p:nvSpPr>
          <p:cNvPr id="242" name="Google Shape;242;p19"/>
          <p:cNvSpPr txBox="1"/>
          <p:nvPr/>
        </p:nvSpPr>
        <p:spPr>
          <a:xfrm>
            <a:off x="6867525" y="2084040"/>
            <a:ext cx="4180522" cy="25137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50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frontend/</a:t>
            </a:r>
            <a:endParaRPr lang="fr-FR" noProof="0" dirty="0"/>
          </a:p>
        </p:txBody>
      </p:sp>
      <p:pic>
        <p:nvPicPr>
          <p:cNvPr id="243" name="Google Shape;243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43025" y="2104876"/>
            <a:ext cx="238125" cy="2095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4" name="Google Shape;244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34150" y="2104876"/>
            <a:ext cx="238125" cy="2095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45" name="Google Shape;245;p19"/>
          <p:cNvSpPr txBox="1"/>
          <p:nvPr/>
        </p:nvSpPr>
        <p:spPr>
          <a:xfrm>
            <a:off x="1343025" y="2573535"/>
            <a:ext cx="43148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0" i="0" u="none" strike="noStrike" cap="none" noProof="0" dirty="0" err="1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accounts</a:t>
            </a:r>
            <a:r>
              <a:rPr lang="fr-FR" sz="1200" b="0" i="0" u="none" strike="noStrike" cap="none" noProof="0" dirty="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/</a:t>
            </a:r>
            <a:endParaRPr lang="fr-FR" noProof="0" dirty="0"/>
          </a:p>
        </p:txBody>
      </p:sp>
      <p:sp>
        <p:nvSpPr>
          <p:cNvPr id="246" name="Google Shape;246;p19"/>
          <p:cNvSpPr txBox="1"/>
          <p:nvPr/>
        </p:nvSpPr>
        <p:spPr>
          <a:xfrm>
            <a:off x="1590675" y="2764035"/>
            <a:ext cx="40671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0" i="0" u="none" strike="noStrike" cap="none" noProof="0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Modèles </a:t>
            </a:r>
            <a:r>
              <a:rPr lang="fr-FR" sz="1050" b="0" i="0" u="none" strike="noStrike" cap="none" noProof="0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CustomUser</a:t>
            </a:r>
            <a:r>
              <a:rPr lang="fr-FR" sz="1050" b="0" i="0" u="none" strike="noStrike" cap="none" noProof="0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, profils &amp; API authentification.</a:t>
            </a:r>
            <a:endParaRPr lang="fr-FR" noProof="0" dirty="0"/>
          </a:p>
        </p:txBody>
      </p:sp>
      <p:sp>
        <p:nvSpPr>
          <p:cNvPr id="247" name="Google Shape;247;p19"/>
          <p:cNvSpPr txBox="1"/>
          <p:nvPr/>
        </p:nvSpPr>
        <p:spPr>
          <a:xfrm>
            <a:off x="1343025" y="3097410"/>
            <a:ext cx="43148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0" i="0" u="none" strike="noStrike" cap="none" noProof="0" dirty="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portal/</a:t>
            </a:r>
            <a:endParaRPr lang="fr-FR" noProof="0" dirty="0"/>
          </a:p>
        </p:txBody>
      </p:sp>
      <p:sp>
        <p:nvSpPr>
          <p:cNvPr id="248" name="Google Shape;248;p19"/>
          <p:cNvSpPr txBox="1"/>
          <p:nvPr/>
        </p:nvSpPr>
        <p:spPr>
          <a:xfrm>
            <a:off x="1590675" y="3287910"/>
            <a:ext cx="40671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0" i="0" u="none" strike="noStrike" cap="none" noProof="0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Logique métier principale (models.py, views.py, serializers.py).</a:t>
            </a:r>
            <a:endParaRPr lang="fr-FR" noProof="0" dirty="0"/>
          </a:p>
        </p:txBody>
      </p:sp>
      <p:sp>
        <p:nvSpPr>
          <p:cNvPr id="249" name="Google Shape;249;p19"/>
          <p:cNvSpPr txBox="1"/>
          <p:nvPr/>
        </p:nvSpPr>
        <p:spPr>
          <a:xfrm>
            <a:off x="1343025" y="3621285"/>
            <a:ext cx="43148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0" i="0" u="none" strike="noStrike" cap="none" noProof="0" dirty="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populate_db.py</a:t>
            </a:r>
            <a:endParaRPr lang="fr-FR" noProof="0" dirty="0"/>
          </a:p>
        </p:txBody>
      </p:sp>
      <p:sp>
        <p:nvSpPr>
          <p:cNvPr id="250" name="Google Shape;250;p19"/>
          <p:cNvSpPr txBox="1"/>
          <p:nvPr/>
        </p:nvSpPr>
        <p:spPr>
          <a:xfrm>
            <a:off x="1590675" y="3811785"/>
            <a:ext cx="40671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0" i="0" u="none" strike="noStrike" cap="none" noProof="0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Script d'automatisation et de génération de données de test.</a:t>
            </a:r>
            <a:endParaRPr lang="fr-FR" noProof="0" dirty="0"/>
          </a:p>
        </p:txBody>
      </p:sp>
      <p:sp>
        <p:nvSpPr>
          <p:cNvPr id="251" name="Google Shape;251;p19"/>
          <p:cNvSpPr txBox="1"/>
          <p:nvPr/>
        </p:nvSpPr>
        <p:spPr>
          <a:xfrm>
            <a:off x="1343025" y="4145160"/>
            <a:ext cx="43148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0" i="0" u="none" strike="noStrike" cap="none" noProof="0" dirty="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requirements.txt</a:t>
            </a:r>
            <a:endParaRPr lang="fr-FR" noProof="0" dirty="0"/>
          </a:p>
        </p:txBody>
      </p:sp>
      <p:sp>
        <p:nvSpPr>
          <p:cNvPr id="252" name="Google Shape;252;p19"/>
          <p:cNvSpPr txBox="1"/>
          <p:nvPr/>
        </p:nvSpPr>
        <p:spPr>
          <a:xfrm>
            <a:off x="1590675" y="4335660"/>
            <a:ext cx="40671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0" i="0" u="none" strike="noStrike" cap="none" noProof="0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Dépendances: Django 6, DRF 3.17, Pillow, etc.</a:t>
            </a:r>
            <a:endParaRPr lang="fr-FR" noProof="0" dirty="0"/>
          </a:p>
        </p:txBody>
      </p:sp>
      <p:sp>
        <p:nvSpPr>
          <p:cNvPr id="253" name="Google Shape;253;p19"/>
          <p:cNvSpPr txBox="1"/>
          <p:nvPr/>
        </p:nvSpPr>
        <p:spPr>
          <a:xfrm>
            <a:off x="6534150" y="2573535"/>
            <a:ext cx="43148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0" i="0" u="none" strike="noStrike" cap="none" noProof="0" dirty="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src/components/</a:t>
            </a:r>
            <a:endParaRPr lang="fr-FR" noProof="0" dirty="0"/>
          </a:p>
        </p:txBody>
      </p:sp>
      <p:sp>
        <p:nvSpPr>
          <p:cNvPr id="254" name="Google Shape;254;p19"/>
          <p:cNvSpPr txBox="1"/>
          <p:nvPr/>
        </p:nvSpPr>
        <p:spPr>
          <a:xfrm>
            <a:off x="6781800" y="2764035"/>
            <a:ext cx="40671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0" i="0" u="none" strike="noStrike" cap="none" noProof="0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Éléments UI globaux : </a:t>
            </a:r>
            <a:r>
              <a:rPr lang="fr-FR" sz="1050" b="0" i="0" u="none" strike="noStrike" cap="none" noProof="0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TopBar</a:t>
            </a:r>
            <a:r>
              <a:rPr lang="fr-FR" sz="1050" b="0" i="0" u="none" strike="noStrike" cap="none" noProof="0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, Sidebar (navigation multi-rôle).</a:t>
            </a:r>
            <a:endParaRPr lang="fr-FR" noProof="0" dirty="0"/>
          </a:p>
        </p:txBody>
      </p:sp>
      <p:sp>
        <p:nvSpPr>
          <p:cNvPr id="255" name="Google Shape;255;p19"/>
          <p:cNvSpPr txBox="1"/>
          <p:nvPr/>
        </p:nvSpPr>
        <p:spPr>
          <a:xfrm>
            <a:off x="6534150" y="3097410"/>
            <a:ext cx="43148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0" i="0" u="none" strike="noStrike" cap="none" noProof="0" dirty="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src/pages/</a:t>
            </a:r>
            <a:endParaRPr lang="fr-FR" noProof="0" dirty="0"/>
          </a:p>
        </p:txBody>
      </p:sp>
      <p:sp>
        <p:nvSpPr>
          <p:cNvPr id="256" name="Google Shape;256;p19"/>
          <p:cNvSpPr txBox="1"/>
          <p:nvPr/>
        </p:nvSpPr>
        <p:spPr>
          <a:xfrm>
            <a:off x="6781800" y="3287910"/>
            <a:ext cx="40671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0" i="0" u="none" strike="noStrike" cap="none" noProof="0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Dashboards</a:t>
            </a:r>
            <a:r>
              <a:rPr lang="fr-FR" sz="1050" b="0" i="0" u="none" strike="noStrike" cap="none" noProof="0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spécifiques par rôle (Student, Teacher, Admin).</a:t>
            </a:r>
            <a:endParaRPr lang="fr-FR" noProof="0" dirty="0"/>
          </a:p>
        </p:txBody>
      </p:sp>
      <p:sp>
        <p:nvSpPr>
          <p:cNvPr id="257" name="Google Shape;257;p19"/>
          <p:cNvSpPr txBox="1"/>
          <p:nvPr/>
        </p:nvSpPr>
        <p:spPr>
          <a:xfrm>
            <a:off x="6534150" y="3621285"/>
            <a:ext cx="43148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0" i="0" u="none" strike="noStrike" cap="none" noProof="0" dirty="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api.js</a:t>
            </a:r>
            <a:endParaRPr lang="fr-FR" noProof="0" dirty="0"/>
          </a:p>
        </p:txBody>
      </p:sp>
      <p:sp>
        <p:nvSpPr>
          <p:cNvPr id="258" name="Google Shape;258;p19"/>
          <p:cNvSpPr txBox="1"/>
          <p:nvPr/>
        </p:nvSpPr>
        <p:spPr>
          <a:xfrm>
            <a:off x="6781800" y="3811785"/>
            <a:ext cx="40671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0" i="0" u="none" strike="noStrike" cap="none" noProof="0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Configuration du Client Axios et intercepteurs de requêtes.</a:t>
            </a:r>
            <a:endParaRPr lang="fr-FR" noProof="0" dirty="0"/>
          </a:p>
        </p:txBody>
      </p:sp>
      <p:sp>
        <p:nvSpPr>
          <p:cNvPr id="259" name="Google Shape;259;p19"/>
          <p:cNvSpPr txBox="1"/>
          <p:nvPr/>
        </p:nvSpPr>
        <p:spPr>
          <a:xfrm>
            <a:off x="6534150" y="4145160"/>
            <a:ext cx="43148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0" i="0" u="none" strike="noStrike" cap="none" noProof="0" dirty="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index.css</a:t>
            </a:r>
            <a:endParaRPr lang="fr-FR" noProof="0" dirty="0"/>
          </a:p>
        </p:txBody>
      </p:sp>
      <p:sp>
        <p:nvSpPr>
          <p:cNvPr id="260" name="Google Shape;260;p19"/>
          <p:cNvSpPr txBox="1"/>
          <p:nvPr/>
        </p:nvSpPr>
        <p:spPr>
          <a:xfrm>
            <a:off x="6781800" y="4335660"/>
            <a:ext cx="40671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0" i="0" u="none" strike="noStrike" cap="none" noProof="0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Design system : variables globales et </a:t>
            </a:r>
            <a:r>
              <a:rPr lang="fr-FR" sz="1050" b="0" i="0" u="none" strike="noStrike" cap="none" noProof="0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glassmorphism</a:t>
            </a:r>
            <a:r>
              <a:rPr lang="fr-FR" sz="1050" b="0" i="0" u="none" strike="noStrike" cap="none" noProof="0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lang="fr-FR" noProof="0" dirty="0"/>
          </a:p>
        </p:txBody>
      </p:sp>
      <p:pic>
        <p:nvPicPr>
          <p:cNvPr id="261" name="Google Shape;261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343025" y="259258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343025" y="311646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343025" y="364033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1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343025" y="416421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34150" y="259258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34150" y="311646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9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534150" y="364033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19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534150" y="4164210"/>
            <a:ext cx="1143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7750" y="1788765"/>
            <a:ext cx="3206650" cy="193923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75" name="Google Shape;275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92525" y="1788765"/>
            <a:ext cx="3206799" cy="193923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76" name="Google Shape;276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937450" y="1788765"/>
            <a:ext cx="3206650" cy="193923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77" name="Google Shape;277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47750" y="3966120"/>
            <a:ext cx="3206650" cy="193937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78" name="Google Shape;278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492525" y="3966120"/>
            <a:ext cx="3206799" cy="193937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79" name="Google Shape;279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937450" y="3966120"/>
            <a:ext cx="3206650" cy="193937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81" name="Google Shape;281;p20"/>
          <p:cNvSpPr txBox="1"/>
          <p:nvPr/>
        </p:nvSpPr>
        <p:spPr>
          <a:xfrm>
            <a:off x="1047750" y="952500"/>
            <a:ext cx="10601325" cy="40764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50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Modélisation des Données</a:t>
            </a:r>
            <a:endParaRPr lang="fr-FR" noProof="0" dirty="0"/>
          </a:p>
        </p:txBody>
      </p:sp>
      <p:sp>
        <p:nvSpPr>
          <p:cNvPr id="282" name="Google Shape;282;p20"/>
          <p:cNvSpPr/>
          <p:nvPr/>
        </p:nvSpPr>
        <p:spPr>
          <a:xfrm>
            <a:off x="1047750" y="1483965"/>
            <a:ext cx="10096500" cy="1905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0"/>
          <p:cNvSpPr txBox="1"/>
          <p:nvPr/>
        </p:nvSpPr>
        <p:spPr>
          <a:xfrm>
            <a:off x="1495425" y="1988790"/>
            <a:ext cx="2686898" cy="20568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 b="1" i="0" u="none" strike="noStrike" cap="none" noProof="0" dirty="0" err="1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CustomUser</a:t>
            </a:r>
            <a:endParaRPr lang="fr-FR" noProof="0" dirty="0"/>
          </a:p>
        </p:txBody>
      </p:sp>
      <p:sp>
        <p:nvSpPr>
          <p:cNvPr id="284" name="Google Shape;284;p20"/>
          <p:cNvSpPr txBox="1"/>
          <p:nvPr/>
        </p:nvSpPr>
        <p:spPr>
          <a:xfrm>
            <a:off x="1247775" y="2270670"/>
            <a:ext cx="28066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b="1" i="0" u="none" strike="noStrike" cap="none" noProof="0" dirty="0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🔗 1:1 → Profiles</a:t>
            </a:r>
            <a:endParaRPr lang="fr-FR" noProof="0" dirty="0"/>
          </a:p>
        </p:txBody>
      </p:sp>
      <p:sp>
        <p:nvSpPr>
          <p:cNvPr id="285" name="Google Shape;285;p20"/>
          <p:cNvSpPr txBox="1"/>
          <p:nvPr/>
        </p:nvSpPr>
        <p:spPr>
          <a:xfrm>
            <a:off x="1247775" y="2489745"/>
            <a:ext cx="28066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Gère l'authentification centrale, les rôles (</a:t>
            </a:r>
            <a:r>
              <a:rPr lang="fr-FR" sz="1050" b="0" i="0" u="none" strike="noStrike" cap="none" noProof="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student</a:t>
            </a:r>
            <a:r>
              <a:rPr lang="fr-FR" sz="105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/</a:t>
            </a:r>
            <a:r>
              <a:rPr lang="fr-FR" sz="1050" b="0" i="0" u="none" strike="noStrike" cap="none" noProof="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teacher</a:t>
            </a:r>
            <a:r>
              <a:rPr lang="fr-FR" sz="105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/admin) et la photo de profil.</a:t>
            </a:r>
            <a:endParaRPr lang="fr-FR" noProof="0" dirty="0"/>
          </a:p>
        </p:txBody>
      </p:sp>
      <p:sp>
        <p:nvSpPr>
          <p:cNvPr id="286" name="Google Shape;286;p20"/>
          <p:cNvSpPr txBox="1"/>
          <p:nvPr/>
        </p:nvSpPr>
        <p:spPr>
          <a:xfrm>
            <a:off x="4921150" y="1988790"/>
            <a:ext cx="2707057" cy="20568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 b="1" i="0" u="none" strike="noStrike" cap="none" noProof="0" dirty="0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Course</a:t>
            </a:r>
            <a:endParaRPr lang="fr-FR" noProof="0" dirty="0"/>
          </a:p>
        </p:txBody>
      </p:sp>
      <p:sp>
        <p:nvSpPr>
          <p:cNvPr id="287" name="Google Shape;287;p20"/>
          <p:cNvSpPr txBox="1"/>
          <p:nvPr/>
        </p:nvSpPr>
        <p:spPr>
          <a:xfrm>
            <a:off x="4692550" y="2270670"/>
            <a:ext cx="2806749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b="1" i="0" u="none" strike="noStrike" cap="none" noProof="0" dirty="0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🔗 1:N → Session</a:t>
            </a:r>
            <a:endParaRPr lang="fr-FR" noProof="0" dirty="0"/>
          </a:p>
        </p:txBody>
      </p:sp>
      <p:sp>
        <p:nvSpPr>
          <p:cNvPr id="288" name="Google Shape;288;p20"/>
          <p:cNvSpPr txBox="1"/>
          <p:nvPr/>
        </p:nvSpPr>
        <p:spPr>
          <a:xfrm>
            <a:off x="4692550" y="2489745"/>
            <a:ext cx="280674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Catalogue référentiel des matières enseignées, identifiées par un code unique.</a:t>
            </a:r>
            <a:endParaRPr lang="fr-FR" noProof="0" dirty="0"/>
          </a:p>
        </p:txBody>
      </p:sp>
      <p:sp>
        <p:nvSpPr>
          <p:cNvPr id="289" name="Google Shape;289;p20"/>
          <p:cNvSpPr txBox="1"/>
          <p:nvPr/>
        </p:nvSpPr>
        <p:spPr>
          <a:xfrm>
            <a:off x="8366075" y="1988790"/>
            <a:ext cx="2706900" cy="20568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 b="1" i="0" u="none" strike="noStrike" cap="none" noProof="0" dirty="0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Session</a:t>
            </a:r>
            <a:endParaRPr lang="fr-FR" noProof="0" dirty="0"/>
          </a:p>
        </p:txBody>
      </p:sp>
      <p:sp>
        <p:nvSpPr>
          <p:cNvPr id="290" name="Google Shape;290;p20"/>
          <p:cNvSpPr txBox="1"/>
          <p:nvPr/>
        </p:nvSpPr>
        <p:spPr>
          <a:xfrm>
            <a:off x="8137475" y="2270670"/>
            <a:ext cx="28066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b="1" i="0" u="none" strike="noStrike" cap="none" noProof="0" dirty="0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🔗 N:1 → Course, Teacher</a:t>
            </a:r>
            <a:endParaRPr lang="fr-FR" noProof="0" dirty="0"/>
          </a:p>
        </p:txBody>
      </p:sp>
      <p:sp>
        <p:nvSpPr>
          <p:cNvPr id="291" name="Google Shape;291;p20"/>
          <p:cNvSpPr txBox="1"/>
          <p:nvPr/>
        </p:nvSpPr>
        <p:spPr>
          <a:xfrm>
            <a:off x="8137475" y="2489745"/>
            <a:ext cx="28066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Instance de cours planifiée pour une classe à une date et heure précises.</a:t>
            </a:r>
            <a:endParaRPr lang="fr-FR" noProof="0" dirty="0"/>
          </a:p>
        </p:txBody>
      </p:sp>
      <p:sp>
        <p:nvSpPr>
          <p:cNvPr id="292" name="Google Shape;292;p20"/>
          <p:cNvSpPr txBox="1"/>
          <p:nvPr/>
        </p:nvSpPr>
        <p:spPr>
          <a:xfrm>
            <a:off x="1457325" y="4166145"/>
            <a:ext cx="2726903" cy="20568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 b="1" i="0" u="none" strike="noStrike" cap="none" noProof="0" dirty="0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Attendance</a:t>
            </a:r>
            <a:endParaRPr lang="fr-FR" noProof="0" dirty="0"/>
          </a:p>
        </p:txBody>
      </p:sp>
      <p:sp>
        <p:nvSpPr>
          <p:cNvPr id="293" name="Google Shape;293;p20"/>
          <p:cNvSpPr txBox="1"/>
          <p:nvPr/>
        </p:nvSpPr>
        <p:spPr>
          <a:xfrm>
            <a:off x="1247775" y="4448026"/>
            <a:ext cx="28066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b="1" i="0" u="none" strike="noStrike" cap="none" noProof="0" dirty="0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🔗 N:1 → Session, Student</a:t>
            </a:r>
            <a:endParaRPr lang="fr-FR" noProof="0" dirty="0"/>
          </a:p>
        </p:txBody>
      </p:sp>
      <p:sp>
        <p:nvSpPr>
          <p:cNvPr id="294" name="Google Shape;294;p20"/>
          <p:cNvSpPr txBox="1"/>
          <p:nvPr/>
        </p:nvSpPr>
        <p:spPr>
          <a:xfrm>
            <a:off x="1247775" y="4667101"/>
            <a:ext cx="28066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Enregistre l'état Présent/Absent. Une contrainte `</a:t>
            </a:r>
            <a:r>
              <a:rPr lang="fr-FR" sz="1050" b="0" i="0" u="none" strike="noStrike" cap="none" noProof="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unique_together</a:t>
            </a:r>
            <a:r>
              <a:rPr lang="fr-FR" sz="105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` prévient les doublons.</a:t>
            </a:r>
            <a:endParaRPr lang="fr-FR" noProof="0" dirty="0"/>
          </a:p>
        </p:txBody>
      </p:sp>
      <p:sp>
        <p:nvSpPr>
          <p:cNvPr id="295" name="Google Shape;295;p20"/>
          <p:cNvSpPr txBox="1"/>
          <p:nvPr/>
        </p:nvSpPr>
        <p:spPr>
          <a:xfrm>
            <a:off x="4940200" y="4166145"/>
            <a:ext cx="2687054" cy="20568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 b="1" i="0" u="none" strike="noStrike" cap="none" noProof="0" dirty="0" err="1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ReportCard</a:t>
            </a:r>
            <a:endParaRPr lang="fr-FR" noProof="0" dirty="0"/>
          </a:p>
        </p:txBody>
      </p:sp>
      <p:sp>
        <p:nvSpPr>
          <p:cNvPr id="296" name="Google Shape;296;p20"/>
          <p:cNvSpPr txBox="1"/>
          <p:nvPr/>
        </p:nvSpPr>
        <p:spPr>
          <a:xfrm>
            <a:off x="4692550" y="4448026"/>
            <a:ext cx="2806749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b="1" i="0" u="none" strike="noStrike" cap="none" noProof="0" dirty="0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🔗 1:N → Grade</a:t>
            </a:r>
            <a:endParaRPr lang="fr-FR" noProof="0" dirty="0"/>
          </a:p>
        </p:txBody>
      </p:sp>
      <p:sp>
        <p:nvSpPr>
          <p:cNvPr id="297" name="Google Shape;297;p20"/>
          <p:cNvSpPr txBox="1"/>
          <p:nvPr/>
        </p:nvSpPr>
        <p:spPr>
          <a:xfrm>
            <a:off x="4692550" y="4667101"/>
            <a:ext cx="2806749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Bulletin semestriel consolidé avec calcul automatique et dynamique de la moyenne générale.</a:t>
            </a:r>
            <a:endParaRPr lang="fr-FR" noProof="0" dirty="0"/>
          </a:p>
        </p:txBody>
      </p:sp>
      <p:sp>
        <p:nvSpPr>
          <p:cNvPr id="298" name="Google Shape;298;p20"/>
          <p:cNvSpPr txBox="1"/>
          <p:nvPr/>
        </p:nvSpPr>
        <p:spPr>
          <a:xfrm>
            <a:off x="8385125" y="4166145"/>
            <a:ext cx="2686898" cy="20568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 b="1" i="0" u="none" strike="noStrike" cap="none" noProof="0" dirty="0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Absence</a:t>
            </a:r>
            <a:endParaRPr lang="fr-FR" noProof="0" dirty="0"/>
          </a:p>
        </p:txBody>
      </p:sp>
      <p:sp>
        <p:nvSpPr>
          <p:cNvPr id="299" name="Google Shape;299;p20"/>
          <p:cNvSpPr txBox="1"/>
          <p:nvPr/>
        </p:nvSpPr>
        <p:spPr>
          <a:xfrm>
            <a:off x="8137475" y="4448026"/>
            <a:ext cx="28066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b="1" i="0" u="none" strike="noStrike" cap="none" noProof="0" dirty="0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🔗 N:1 → Student</a:t>
            </a:r>
            <a:endParaRPr lang="fr-FR" noProof="0" dirty="0"/>
          </a:p>
        </p:txBody>
      </p:sp>
      <p:sp>
        <p:nvSpPr>
          <p:cNvPr id="300" name="Google Shape;300;p20"/>
          <p:cNvSpPr txBox="1"/>
          <p:nvPr/>
        </p:nvSpPr>
        <p:spPr>
          <a:xfrm>
            <a:off x="8137475" y="4667101"/>
            <a:ext cx="28066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Gère le workflow de justification avec état : </a:t>
            </a:r>
            <a:r>
              <a:rPr lang="fr-FR" sz="1050" b="0" i="0" u="none" strike="noStrike" cap="none" noProof="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Pending</a:t>
            </a:r>
            <a:r>
              <a:rPr lang="fr-FR" sz="105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→ </a:t>
            </a:r>
            <a:r>
              <a:rPr lang="fr-FR" sz="1050" b="0" i="0" u="none" strike="noStrike" cap="none" noProof="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Validated</a:t>
            </a:r>
            <a:r>
              <a:rPr lang="fr-FR" sz="105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/ </a:t>
            </a:r>
            <a:r>
              <a:rPr lang="fr-FR" sz="1050" b="0" i="0" u="none" strike="noStrike" cap="none" noProof="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Rejected</a:t>
            </a:r>
            <a:r>
              <a:rPr lang="fr-FR" sz="105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lang="fr-FR" noProof="0" dirty="0"/>
          </a:p>
        </p:txBody>
      </p:sp>
      <p:pic>
        <p:nvPicPr>
          <p:cNvPr id="301" name="Google Shape;301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247775" y="2005905"/>
            <a:ext cx="171450" cy="1714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02" name="Google Shape;302;p2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692550" y="2005905"/>
            <a:ext cx="152400" cy="1714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03" name="Google Shape;303;p20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137475" y="2005905"/>
            <a:ext cx="152400" cy="1714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04" name="Google Shape;304;p20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247775" y="4183260"/>
            <a:ext cx="133350" cy="1714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05" name="Google Shape;305;p20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692550" y="4183260"/>
            <a:ext cx="171450" cy="1714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06" name="Google Shape;306;p20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137475" y="4183260"/>
            <a:ext cx="171450" cy="1714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12" name="Google Shape;31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7750" y="1788765"/>
            <a:ext cx="3174950" cy="411673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13" name="Google Shape;313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08450" y="1788765"/>
            <a:ext cx="3174950" cy="411673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14" name="Google Shape;314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969150" y="1788765"/>
            <a:ext cx="3175099" cy="411673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6" name="Google Shape;316;p21"/>
          <p:cNvSpPr txBox="1"/>
          <p:nvPr/>
        </p:nvSpPr>
        <p:spPr>
          <a:xfrm>
            <a:off x="1047750" y="952500"/>
            <a:ext cx="10601325" cy="40764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50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Les Trois Acteurs</a:t>
            </a:r>
            <a:endParaRPr lang="fr-FR" noProof="0" dirty="0"/>
          </a:p>
        </p:txBody>
      </p:sp>
      <p:sp>
        <p:nvSpPr>
          <p:cNvPr id="317" name="Google Shape;317;p21"/>
          <p:cNvSpPr/>
          <p:nvPr/>
        </p:nvSpPr>
        <p:spPr>
          <a:xfrm>
            <a:off x="1047750" y="1483965"/>
            <a:ext cx="10096500" cy="1905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8" name="Google Shape;318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43025" y="2122140"/>
            <a:ext cx="457200" cy="4572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9" name="Google Shape;319;p21"/>
          <p:cNvSpPr txBox="1"/>
          <p:nvPr/>
        </p:nvSpPr>
        <p:spPr>
          <a:xfrm>
            <a:off x="1343025" y="2769840"/>
            <a:ext cx="2713620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50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Administrateur</a:t>
            </a:r>
            <a:endParaRPr lang="fr-FR" noProof="0" dirty="0"/>
          </a:p>
        </p:txBody>
      </p:sp>
      <p:pic>
        <p:nvPicPr>
          <p:cNvPr id="320" name="Google Shape;320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803725" y="2122140"/>
            <a:ext cx="457200" cy="4572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21" name="Google Shape;321;p21"/>
          <p:cNvSpPr txBox="1"/>
          <p:nvPr/>
        </p:nvSpPr>
        <p:spPr>
          <a:xfrm>
            <a:off x="4803725" y="2769840"/>
            <a:ext cx="2713620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50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Enseignant</a:t>
            </a:r>
            <a:endParaRPr lang="fr-FR" noProof="0" dirty="0"/>
          </a:p>
        </p:txBody>
      </p:sp>
      <p:pic>
        <p:nvPicPr>
          <p:cNvPr id="322" name="Google Shape;322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264425" y="2122140"/>
            <a:ext cx="457200" cy="4572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23" name="Google Shape;323;p21"/>
          <p:cNvSpPr txBox="1"/>
          <p:nvPr/>
        </p:nvSpPr>
        <p:spPr>
          <a:xfrm>
            <a:off x="8264425" y="2769840"/>
            <a:ext cx="2713776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50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Étudiant</a:t>
            </a:r>
            <a:endParaRPr lang="fr-FR" noProof="0" dirty="0"/>
          </a:p>
        </p:txBody>
      </p:sp>
      <p:pic>
        <p:nvPicPr>
          <p:cNvPr id="324" name="Google Shape;324;p2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471612" y="223644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1"/>
          <p:cNvSpPr txBox="1"/>
          <p:nvPr/>
        </p:nvSpPr>
        <p:spPr>
          <a:xfrm>
            <a:off x="1343025" y="3164085"/>
            <a:ext cx="2584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Gérer les comptes et le catalogue.</a:t>
            </a:r>
            <a:endParaRPr lang="fr-FR" noProof="0" dirty="0"/>
          </a:p>
        </p:txBody>
      </p:sp>
      <p:sp>
        <p:nvSpPr>
          <p:cNvPr id="326" name="Google Shape;326;p21"/>
          <p:cNvSpPr txBox="1"/>
          <p:nvPr/>
        </p:nvSpPr>
        <p:spPr>
          <a:xfrm>
            <a:off x="1343025" y="3440310"/>
            <a:ext cx="2584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Valider les justifications d'absence.</a:t>
            </a:r>
            <a:endParaRPr lang="fr-FR" noProof="0" dirty="0"/>
          </a:p>
        </p:txBody>
      </p:sp>
      <p:sp>
        <p:nvSpPr>
          <p:cNvPr id="327" name="Google Shape;327;p21"/>
          <p:cNvSpPr txBox="1"/>
          <p:nvPr/>
        </p:nvSpPr>
        <p:spPr>
          <a:xfrm>
            <a:off x="1343025" y="3716535"/>
            <a:ext cx="2584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Diffuser des annonces globales.</a:t>
            </a:r>
            <a:endParaRPr lang="fr-FR" noProof="0" dirty="0"/>
          </a:p>
        </p:txBody>
      </p:sp>
      <p:sp>
        <p:nvSpPr>
          <p:cNvPr id="328" name="Google Shape;328;p21"/>
          <p:cNvSpPr txBox="1"/>
          <p:nvPr/>
        </p:nvSpPr>
        <p:spPr>
          <a:xfrm>
            <a:off x="1343025" y="3992760"/>
            <a:ext cx="2584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Superviser le calendrier académique.</a:t>
            </a:r>
            <a:endParaRPr lang="fr-FR" noProof="0" dirty="0"/>
          </a:p>
        </p:txBody>
      </p:sp>
      <p:pic>
        <p:nvPicPr>
          <p:cNvPr id="329" name="Google Shape;329;p21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889450" y="2236440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1"/>
          <p:cNvSpPr txBox="1"/>
          <p:nvPr/>
        </p:nvSpPr>
        <p:spPr>
          <a:xfrm>
            <a:off x="4803725" y="3164085"/>
            <a:ext cx="2584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Créer et gérer ses séances de cours.</a:t>
            </a:r>
            <a:endParaRPr lang="fr-FR" noProof="0" dirty="0"/>
          </a:p>
        </p:txBody>
      </p:sp>
      <p:sp>
        <p:nvSpPr>
          <p:cNvPr id="331" name="Google Shape;331;p21"/>
          <p:cNvSpPr txBox="1"/>
          <p:nvPr/>
        </p:nvSpPr>
        <p:spPr>
          <a:xfrm>
            <a:off x="4803725" y="3440310"/>
            <a:ext cx="2584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Saisir les présences en temps réel.</a:t>
            </a:r>
            <a:endParaRPr lang="fr-FR" noProof="0" dirty="0"/>
          </a:p>
        </p:txBody>
      </p:sp>
      <p:sp>
        <p:nvSpPr>
          <p:cNvPr id="332" name="Google Shape;332;p21"/>
          <p:cNvSpPr txBox="1"/>
          <p:nvPr/>
        </p:nvSpPr>
        <p:spPr>
          <a:xfrm>
            <a:off x="4803725" y="3716535"/>
            <a:ext cx="2584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Enregistrer les notes par évaluation.</a:t>
            </a:r>
            <a:endParaRPr lang="fr-FR" noProof="0" dirty="0"/>
          </a:p>
        </p:txBody>
      </p:sp>
      <p:sp>
        <p:nvSpPr>
          <p:cNvPr id="333" name="Google Shape;333;p21"/>
          <p:cNvSpPr txBox="1"/>
          <p:nvPr/>
        </p:nvSpPr>
        <p:spPr>
          <a:xfrm>
            <a:off x="4803725" y="3992760"/>
            <a:ext cx="2584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Envoyer des notifications aux classes.</a:t>
            </a:r>
            <a:endParaRPr lang="fr-FR" noProof="0" dirty="0"/>
          </a:p>
        </p:txBody>
      </p:sp>
      <p:pic>
        <p:nvPicPr>
          <p:cNvPr id="334" name="Google Shape;334;p21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393013" y="223644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1"/>
          <p:cNvSpPr txBox="1"/>
          <p:nvPr/>
        </p:nvSpPr>
        <p:spPr>
          <a:xfrm>
            <a:off x="8264425" y="3164085"/>
            <a:ext cx="2584549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Consulter son historique d'assiduité.</a:t>
            </a:r>
            <a:endParaRPr lang="fr-FR" noProof="0" dirty="0"/>
          </a:p>
        </p:txBody>
      </p:sp>
      <p:sp>
        <p:nvSpPr>
          <p:cNvPr id="336" name="Google Shape;336;p21"/>
          <p:cNvSpPr txBox="1"/>
          <p:nvPr/>
        </p:nvSpPr>
        <p:spPr>
          <a:xfrm>
            <a:off x="8264425" y="3440310"/>
            <a:ext cx="258454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Soumettre une justification d'absence.</a:t>
            </a:r>
            <a:endParaRPr lang="fr-FR" noProof="0" dirty="0"/>
          </a:p>
        </p:txBody>
      </p:sp>
      <p:sp>
        <p:nvSpPr>
          <p:cNvPr id="337" name="Google Shape;337;p21"/>
          <p:cNvSpPr txBox="1"/>
          <p:nvPr/>
        </p:nvSpPr>
        <p:spPr>
          <a:xfrm>
            <a:off x="8264425" y="3878460"/>
            <a:ext cx="2584549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Demander des attestations officielles.</a:t>
            </a:r>
            <a:endParaRPr lang="fr-FR" noProof="0" dirty="0"/>
          </a:p>
        </p:txBody>
      </p:sp>
      <p:sp>
        <p:nvSpPr>
          <p:cNvPr id="338" name="Google Shape;338;p21"/>
          <p:cNvSpPr txBox="1"/>
          <p:nvPr/>
        </p:nvSpPr>
        <p:spPr>
          <a:xfrm>
            <a:off x="8264425" y="4154685"/>
            <a:ext cx="2584549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Accéder aux bulletins et au planning.</a:t>
            </a:r>
            <a:endParaRPr lang="fr-FR" noProof="0" dirty="0"/>
          </a:p>
        </p:txBody>
      </p:sp>
      <p:pic>
        <p:nvPicPr>
          <p:cNvPr id="339" name="Google Shape;339;p21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343025" y="3178373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21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343025" y="3454598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1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343025" y="3730823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1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343025" y="4007048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1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803725" y="3178373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1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803725" y="3454598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1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803725" y="3730823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1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803725" y="4007048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1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264425" y="3178373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1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264425" y="3454598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1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264425" y="3892748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21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264425" y="4168973"/>
            <a:ext cx="114300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57" name="Google Shape;357;p22"/>
          <p:cNvSpPr txBox="1"/>
          <p:nvPr/>
        </p:nvSpPr>
        <p:spPr>
          <a:xfrm>
            <a:off x="1047750" y="952500"/>
            <a:ext cx="10601325" cy="40764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50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Workflow : Justification d'Absence</a:t>
            </a:r>
            <a:endParaRPr lang="fr-FR" noProof="0" dirty="0"/>
          </a:p>
        </p:txBody>
      </p:sp>
      <p:sp>
        <p:nvSpPr>
          <p:cNvPr id="358" name="Google Shape;358;p22"/>
          <p:cNvSpPr/>
          <p:nvPr/>
        </p:nvSpPr>
        <p:spPr>
          <a:xfrm>
            <a:off x="1047750" y="1483965"/>
            <a:ext cx="10096500" cy="1905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2"/>
          <p:cNvSpPr txBox="1"/>
          <p:nvPr/>
        </p:nvSpPr>
        <p:spPr>
          <a:xfrm>
            <a:off x="1976437" y="3820417"/>
            <a:ext cx="809625" cy="16192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1" i="0" u="none" strike="noStrike" cap="none" noProof="0" dirty="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1. ÉTUDIANT</a:t>
            </a:r>
            <a:endParaRPr lang="fr-FR" noProof="0" dirty="0"/>
          </a:p>
        </p:txBody>
      </p:sp>
      <p:sp>
        <p:nvSpPr>
          <p:cNvPr id="361" name="Google Shape;361;p22"/>
          <p:cNvSpPr txBox="1"/>
          <p:nvPr/>
        </p:nvSpPr>
        <p:spPr>
          <a:xfrm>
            <a:off x="1996200" y="4182367"/>
            <a:ext cx="770096" cy="24929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Constat</a:t>
            </a:r>
            <a:endParaRPr lang="fr-FR" noProof="0" dirty="0"/>
          </a:p>
        </p:txBody>
      </p:sp>
      <p:sp>
        <p:nvSpPr>
          <p:cNvPr id="362" name="Google Shape;362;p22"/>
          <p:cNvSpPr txBox="1"/>
          <p:nvPr/>
        </p:nvSpPr>
        <p:spPr>
          <a:xfrm>
            <a:off x="1333499" y="4464248"/>
            <a:ext cx="2095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0" i="0" u="none" strike="noStrike" cap="none" noProof="0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L'étudiant repère une absence non justifiée sur son </a:t>
            </a:r>
            <a:r>
              <a:rPr lang="fr-FR" sz="1050" b="0" i="0" u="none" strike="noStrike" cap="none" noProof="0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dashboard</a:t>
            </a:r>
            <a:r>
              <a:rPr lang="fr-FR" sz="1050" b="0" i="0" u="none" strike="noStrike" cap="none" noProof="0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lang="fr-FR" noProof="0" dirty="0"/>
          </a:p>
        </p:txBody>
      </p:sp>
      <p:sp>
        <p:nvSpPr>
          <p:cNvPr id="364" name="Google Shape;364;p22"/>
          <p:cNvSpPr txBox="1"/>
          <p:nvPr/>
        </p:nvSpPr>
        <p:spPr>
          <a:xfrm>
            <a:off x="4438650" y="3820417"/>
            <a:ext cx="838200" cy="16192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1" i="0" u="none" strike="noStrike" cap="none" noProof="0" dirty="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2. ÉTUDIANT</a:t>
            </a:r>
            <a:endParaRPr lang="fr-FR" noProof="0" dirty="0"/>
          </a:p>
        </p:txBody>
      </p:sp>
      <p:sp>
        <p:nvSpPr>
          <p:cNvPr id="365" name="Google Shape;365;p22"/>
          <p:cNvSpPr txBox="1"/>
          <p:nvPr/>
        </p:nvSpPr>
        <p:spPr>
          <a:xfrm>
            <a:off x="4317681" y="4182367"/>
            <a:ext cx="1080135" cy="24929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Soumission</a:t>
            </a:r>
            <a:endParaRPr lang="fr-FR" noProof="0" dirty="0"/>
          </a:p>
        </p:txBody>
      </p:sp>
      <p:sp>
        <p:nvSpPr>
          <p:cNvPr id="366" name="Google Shape;366;p22"/>
          <p:cNvSpPr txBox="1"/>
          <p:nvPr/>
        </p:nvSpPr>
        <p:spPr>
          <a:xfrm>
            <a:off x="3809999" y="4464248"/>
            <a:ext cx="2095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0" i="0" u="none" strike="noStrike" cap="none" noProof="0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Saisie du motif et envoi à l'API (Statut : </a:t>
            </a:r>
            <a:r>
              <a:rPr lang="fr-FR" sz="1050" b="0" i="0" u="none" strike="noStrike" cap="none" noProof="0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Pending</a:t>
            </a:r>
            <a:r>
              <a:rPr lang="fr-FR" sz="1050" b="0" i="0" u="none" strike="noStrike" cap="none" noProof="0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lang="fr-FR" noProof="0" dirty="0"/>
          </a:p>
        </p:txBody>
      </p:sp>
      <p:sp>
        <p:nvSpPr>
          <p:cNvPr id="368" name="Google Shape;368;p22"/>
          <p:cNvSpPr txBox="1"/>
          <p:nvPr/>
        </p:nvSpPr>
        <p:spPr>
          <a:xfrm>
            <a:off x="7024687" y="3820417"/>
            <a:ext cx="619125" cy="16192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1" i="0" u="none" strike="noStrike" cap="none" noProof="0" dirty="0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3. ADMIN</a:t>
            </a:r>
            <a:endParaRPr lang="fr-FR" noProof="0" dirty="0"/>
          </a:p>
        </p:txBody>
      </p:sp>
      <p:sp>
        <p:nvSpPr>
          <p:cNvPr id="369" name="Google Shape;369;p22"/>
          <p:cNvSpPr txBox="1"/>
          <p:nvPr/>
        </p:nvSpPr>
        <p:spPr>
          <a:xfrm>
            <a:off x="6779179" y="4182367"/>
            <a:ext cx="1110138" cy="24929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Supervision</a:t>
            </a:r>
            <a:endParaRPr lang="fr-FR" noProof="0" dirty="0"/>
          </a:p>
        </p:txBody>
      </p:sp>
      <p:sp>
        <p:nvSpPr>
          <p:cNvPr id="370" name="Google Shape;370;p22"/>
          <p:cNvSpPr txBox="1"/>
          <p:nvPr/>
        </p:nvSpPr>
        <p:spPr>
          <a:xfrm>
            <a:off x="6286499" y="4464248"/>
            <a:ext cx="2095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0" i="0" u="none" strike="noStrike" cap="none" noProof="0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L'admin reçoit la demande dans sa file de validation.</a:t>
            </a:r>
            <a:endParaRPr lang="fr-FR" noProof="0" dirty="0"/>
          </a:p>
        </p:txBody>
      </p:sp>
      <p:sp>
        <p:nvSpPr>
          <p:cNvPr id="372" name="Google Shape;372;p22"/>
          <p:cNvSpPr txBox="1"/>
          <p:nvPr/>
        </p:nvSpPr>
        <p:spPr>
          <a:xfrm>
            <a:off x="9501187" y="3820417"/>
            <a:ext cx="619125" cy="16192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1" i="0" u="none" strike="noStrike" cap="none" noProof="0" dirty="0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4. ADMIN</a:t>
            </a:r>
            <a:endParaRPr lang="fr-FR" noProof="0" dirty="0"/>
          </a:p>
        </p:txBody>
      </p:sp>
      <p:sp>
        <p:nvSpPr>
          <p:cNvPr id="373" name="Google Shape;373;p22"/>
          <p:cNvSpPr txBox="1"/>
          <p:nvPr/>
        </p:nvSpPr>
        <p:spPr>
          <a:xfrm>
            <a:off x="9410699" y="4182367"/>
            <a:ext cx="800100" cy="24929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Décision</a:t>
            </a:r>
            <a:endParaRPr lang="fr-FR" noProof="0" dirty="0"/>
          </a:p>
        </p:txBody>
      </p:sp>
      <p:sp>
        <p:nvSpPr>
          <p:cNvPr id="374" name="Google Shape;374;p22"/>
          <p:cNvSpPr txBox="1"/>
          <p:nvPr/>
        </p:nvSpPr>
        <p:spPr>
          <a:xfrm>
            <a:off x="8762999" y="4464248"/>
            <a:ext cx="20955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0" i="0" u="none" strike="noStrike" cap="none" noProof="0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Validation ou Rejet modifie immédiatement le statut côté étudiant.</a:t>
            </a:r>
            <a:endParaRPr lang="fr-FR" noProof="0" dirty="0"/>
          </a:p>
        </p:txBody>
      </p:sp>
      <p:sp>
        <p:nvSpPr>
          <p:cNvPr id="379" name="Google Shape;379;p22"/>
          <p:cNvSpPr/>
          <p:nvPr/>
        </p:nvSpPr>
        <p:spPr>
          <a:xfrm>
            <a:off x="2228850" y="3229867"/>
            <a:ext cx="7620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9" name="Google Shape;35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00250" y="2867917"/>
            <a:ext cx="762000" cy="7620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63" name="Google Shape;363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76750" y="2867917"/>
            <a:ext cx="762000" cy="7620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67" name="Google Shape;367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53250" y="2867917"/>
            <a:ext cx="762000" cy="7620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71" name="Google Shape;371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429750" y="2867917"/>
            <a:ext cx="762000" cy="7620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75" name="Google Shape;375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228850" y="3115567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22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724400" y="3115567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22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200900" y="3115567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22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677400" y="3115567"/>
            <a:ext cx="266700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p23" descr="image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86" name="Google Shape;386;p23"/>
          <p:cNvSpPr txBox="1"/>
          <p:nvPr/>
        </p:nvSpPr>
        <p:spPr>
          <a:xfrm>
            <a:off x="1047750" y="952500"/>
            <a:ext cx="10601325" cy="40764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50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Démonstration Live</a:t>
            </a:r>
            <a:endParaRPr lang="fr-FR" noProof="0" dirty="0"/>
          </a:p>
        </p:txBody>
      </p:sp>
      <p:sp>
        <p:nvSpPr>
          <p:cNvPr id="387" name="Google Shape;387;p23"/>
          <p:cNvSpPr/>
          <p:nvPr/>
        </p:nvSpPr>
        <p:spPr>
          <a:xfrm>
            <a:off x="1047750" y="1483965"/>
            <a:ext cx="10096500" cy="1905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3"/>
          <p:cNvSpPr txBox="1"/>
          <p:nvPr/>
        </p:nvSpPr>
        <p:spPr>
          <a:xfrm>
            <a:off x="1047750" y="2113508"/>
            <a:ext cx="436423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Parcours interactif des fonctionnalités clés de l'application PORTAL en conditions réelles.</a:t>
            </a:r>
            <a:endParaRPr lang="fr-FR" noProof="0" dirty="0"/>
          </a:p>
        </p:txBody>
      </p:sp>
      <p:pic>
        <p:nvPicPr>
          <p:cNvPr id="391" name="Google Shape;391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47750" y="2894558"/>
            <a:ext cx="457200" cy="4572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92" name="Google Shape;392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47750" y="3637508"/>
            <a:ext cx="457200" cy="4572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93" name="Google Shape;393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47750" y="4380458"/>
            <a:ext cx="457200" cy="4572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94" name="Google Shape;394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47750" y="5123408"/>
            <a:ext cx="457200" cy="4572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96" name="Google Shape;396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90625" y="3027908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23"/>
          <p:cNvSpPr txBox="1"/>
          <p:nvPr/>
        </p:nvSpPr>
        <p:spPr>
          <a:xfrm>
            <a:off x="1647825" y="2939355"/>
            <a:ext cx="1700212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Authentification</a:t>
            </a:r>
            <a:endParaRPr lang="fr-FR" noProof="0" dirty="0"/>
          </a:p>
        </p:txBody>
      </p:sp>
      <p:sp>
        <p:nvSpPr>
          <p:cNvPr id="398" name="Google Shape;398;p23"/>
          <p:cNvSpPr txBox="1"/>
          <p:nvPr/>
        </p:nvSpPr>
        <p:spPr>
          <a:xfrm>
            <a:off x="1647825" y="3145035"/>
            <a:ext cx="16192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0" i="0" u="none" strike="noStrike" cap="none" noProof="0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Login multi-rôles sécurisé.</a:t>
            </a:r>
            <a:endParaRPr lang="fr-FR" noProof="0" dirty="0"/>
          </a:p>
        </p:txBody>
      </p:sp>
      <p:pic>
        <p:nvPicPr>
          <p:cNvPr id="399" name="Google Shape;399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66812" y="3770858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23"/>
          <p:cNvSpPr txBox="1"/>
          <p:nvPr/>
        </p:nvSpPr>
        <p:spPr>
          <a:xfrm>
            <a:off x="1647825" y="3682305"/>
            <a:ext cx="2960370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Dashboard</a:t>
            </a:r>
            <a:endParaRPr lang="fr-FR" noProof="0" dirty="0"/>
          </a:p>
        </p:txBody>
      </p:sp>
      <p:sp>
        <p:nvSpPr>
          <p:cNvPr id="401" name="Google Shape;401;p23"/>
          <p:cNvSpPr txBox="1"/>
          <p:nvPr/>
        </p:nvSpPr>
        <p:spPr>
          <a:xfrm>
            <a:off x="1647825" y="3887985"/>
            <a:ext cx="2819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0" i="0" u="none" strike="noStrike" cap="none" noProof="0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Tableaux de bord différenciés et analytiques.</a:t>
            </a:r>
            <a:endParaRPr lang="fr-FR" noProof="0" dirty="0"/>
          </a:p>
        </p:txBody>
      </p:sp>
      <p:pic>
        <p:nvPicPr>
          <p:cNvPr id="402" name="Google Shape;402;p2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190625" y="4513808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3"/>
          <p:cNvSpPr txBox="1"/>
          <p:nvPr/>
        </p:nvSpPr>
        <p:spPr>
          <a:xfrm>
            <a:off x="1647825" y="4425255"/>
            <a:ext cx="2610326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Présences</a:t>
            </a:r>
            <a:endParaRPr lang="fr-FR" noProof="0" dirty="0"/>
          </a:p>
        </p:txBody>
      </p:sp>
      <p:sp>
        <p:nvSpPr>
          <p:cNvPr id="404" name="Google Shape;404;p23"/>
          <p:cNvSpPr txBox="1"/>
          <p:nvPr/>
        </p:nvSpPr>
        <p:spPr>
          <a:xfrm>
            <a:off x="1647825" y="4630935"/>
            <a:ext cx="24860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0" i="0" u="none" strike="noStrike" cap="none" noProof="0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Saisie et suivi automatisé en temps réel.</a:t>
            </a:r>
            <a:endParaRPr lang="fr-FR" noProof="0" dirty="0"/>
          </a:p>
        </p:txBody>
      </p:sp>
      <p:pic>
        <p:nvPicPr>
          <p:cNvPr id="405" name="Google Shape;405;p2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181100" y="5256758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23"/>
          <p:cNvSpPr txBox="1"/>
          <p:nvPr/>
        </p:nvSpPr>
        <p:spPr>
          <a:xfrm>
            <a:off x="1647825" y="5168205"/>
            <a:ext cx="2930366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Notes</a:t>
            </a:r>
            <a:endParaRPr lang="fr-FR" noProof="0" dirty="0"/>
          </a:p>
        </p:txBody>
      </p:sp>
      <p:sp>
        <p:nvSpPr>
          <p:cNvPr id="407" name="Google Shape;407;p23"/>
          <p:cNvSpPr txBox="1"/>
          <p:nvPr/>
        </p:nvSpPr>
        <p:spPr>
          <a:xfrm>
            <a:off x="1647825" y="5373885"/>
            <a:ext cx="27908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0" i="0" u="none" strike="noStrike" cap="none" noProof="0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Saisie par classe et module avec calcul auto.</a:t>
            </a:r>
            <a:endParaRPr lang="fr-FR" noProof="0" dirty="0"/>
          </a:p>
        </p:txBody>
      </p:sp>
      <p:pic>
        <p:nvPicPr>
          <p:cNvPr id="2" name="Google Shape;222;p18">
            <a:hlinkClick r:id="rId3"/>
            <a:extLst>
              <a:ext uri="{FF2B5EF4-FFF2-40B4-BE49-F238E27FC236}">
                <a16:creationId xmlns:a16="http://schemas.microsoft.com/office/drawing/2014/main" id="{F2CEE84B-EA63-14A5-D33B-CD973B2168CE}"/>
              </a:ext>
            </a:extLst>
          </p:cNvPr>
          <p:cNvPicPr preferRelativeResize="0"/>
          <p:nvPr/>
        </p:nvPicPr>
        <p:blipFill>
          <a:blip r:embed="rId13">
            <a:alphaModFix/>
          </a:blip>
          <a:srcRect l="3988" t="12959" r="6444" b="12384"/>
          <a:stretch>
            <a:fillRect/>
          </a:stretch>
        </p:blipFill>
        <p:spPr>
          <a:xfrm>
            <a:off x="5888236" y="2038351"/>
            <a:ext cx="5256014" cy="360997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endPos="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41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13" name="Google Shape;413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7750" y="1788765"/>
            <a:ext cx="3174950" cy="411673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14" name="Google Shape;414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08450" y="1788765"/>
            <a:ext cx="3174950" cy="411673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15" name="Google Shape;415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969150" y="1788765"/>
            <a:ext cx="3175099" cy="411673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17" name="Google Shape;417;p24"/>
          <p:cNvSpPr txBox="1"/>
          <p:nvPr/>
        </p:nvSpPr>
        <p:spPr>
          <a:xfrm>
            <a:off x="1047750" y="952500"/>
            <a:ext cx="10601325" cy="40764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50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Perspectives d'Évolution</a:t>
            </a:r>
            <a:endParaRPr lang="fr-FR" noProof="0" dirty="0"/>
          </a:p>
        </p:txBody>
      </p:sp>
      <p:sp>
        <p:nvSpPr>
          <p:cNvPr id="418" name="Google Shape;418;p24"/>
          <p:cNvSpPr/>
          <p:nvPr/>
        </p:nvSpPr>
        <p:spPr>
          <a:xfrm>
            <a:off x="1047750" y="1483965"/>
            <a:ext cx="10096500" cy="1905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4"/>
          <p:cNvSpPr/>
          <p:nvPr/>
        </p:nvSpPr>
        <p:spPr>
          <a:xfrm>
            <a:off x="1057275" y="1798290"/>
            <a:ext cx="315590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fr-FR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4"/>
          <p:cNvSpPr txBox="1"/>
          <p:nvPr/>
        </p:nvSpPr>
        <p:spPr>
          <a:xfrm>
            <a:off x="1343025" y="2084040"/>
            <a:ext cx="258440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75" b="1" i="0" u="none" strike="noStrike" cap="none" noProof="0" dirty="0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COURT TERME</a:t>
            </a:r>
            <a:endParaRPr lang="fr-FR" noProof="0" dirty="0"/>
          </a:p>
        </p:txBody>
      </p:sp>
      <p:sp>
        <p:nvSpPr>
          <p:cNvPr id="421" name="Google Shape;421;p24"/>
          <p:cNvSpPr/>
          <p:nvPr/>
        </p:nvSpPr>
        <p:spPr>
          <a:xfrm>
            <a:off x="4517975" y="1798290"/>
            <a:ext cx="315590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fr-FR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4"/>
          <p:cNvSpPr txBox="1"/>
          <p:nvPr/>
        </p:nvSpPr>
        <p:spPr>
          <a:xfrm>
            <a:off x="4803725" y="2084040"/>
            <a:ext cx="258440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75" b="1" i="0" u="none" strike="noStrike" cap="none" noProof="0" dirty="0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MOYEN TERME</a:t>
            </a:r>
            <a:endParaRPr lang="fr-FR" noProof="0" dirty="0"/>
          </a:p>
        </p:txBody>
      </p:sp>
      <p:sp>
        <p:nvSpPr>
          <p:cNvPr id="423" name="Google Shape;423;p24"/>
          <p:cNvSpPr/>
          <p:nvPr/>
        </p:nvSpPr>
        <p:spPr>
          <a:xfrm>
            <a:off x="7978675" y="1798290"/>
            <a:ext cx="3156049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fr-FR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4"/>
          <p:cNvSpPr txBox="1"/>
          <p:nvPr/>
        </p:nvSpPr>
        <p:spPr>
          <a:xfrm>
            <a:off x="8264425" y="2084040"/>
            <a:ext cx="2584549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75" b="1" i="0" u="none" strike="noStrike" cap="none" noProof="0" dirty="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LONG TERME</a:t>
            </a:r>
            <a:endParaRPr lang="fr-FR" noProof="0" dirty="0"/>
          </a:p>
        </p:txBody>
      </p:sp>
      <p:sp>
        <p:nvSpPr>
          <p:cNvPr id="425" name="Google Shape;425;p24"/>
          <p:cNvSpPr txBox="1"/>
          <p:nvPr/>
        </p:nvSpPr>
        <p:spPr>
          <a:xfrm>
            <a:off x="1552575" y="2474565"/>
            <a:ext cx="2493592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Application Mobile</a:t>
            </a:r>
            <a:endParaRPr lang="fr-FR" noProof="0" dirty="0"/>
          </a:p>
        </p:txBody>
      </p:sp>
      <p:sp>
        <p:nvSpPr>
          <p:cNvPr id="426" name="Google Shape;426;p24"/>
          <p:cNvSpPr txBox="1"/>
          <p:nvPr/>
        </p:nvSpPr>
        <p:spPr>
          <a:xfrm>
            <a:off x="1343025" y="2737395"/>
            <a:ext cx="25844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App iOS/Android dédiée pour la prise de présence par QR Code, accessible hors ligne.</a:t>
            </a:r>
            <a:endParaRPr lang="fr-FR" noProof="0" dirty="0"/>
          </a:p>
        </p:txBody>
      </p:sp>
      <p:sp>
        <p:nvSpPr>
          <p:cNvPr id="427" name="Google Shape;427;p24"/>
          <p:cNvSpPr txBox="1"/>
          <p:nvPr/>
        </p:nvSpPr>
        <p:spPr>
          <a:xfrm>
            <a:off x="1590675" y="3575595"/>
            <a:ext cx="2453587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Alertes Auto</a:t>
            </a:r>
            <a:endParaRPr lang="fr-FR" noProof="0" dirty="0"/>
          </a:p>
        </p:txBody>
      </p:sp>
      <p:sp>
        <p:nvSpPr>
          <p:cNvPr id="428" name="Google Shape;428;p24"/>
          <p:cNvSpPr txBox="1"/>
          <p:nvPr/>
        </p:nvSpPr>
        <p:spPr>
          <a:xfrm>
            <a:off x="1343025" y="3838426"/>
            <a:ext cx="25844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Notifications Email &amp; SMS aux étudiants et parents lors d'absence non justifiée.</a:t>
            </a:r>
            <a:endParaRPr lang="fr-FR" noProof="0" dirty="0"/>
          </a:p>
        </p:txBody>
      </p:sp>
      <p:sp>
        <p:nvSpPr>
          <p:cNvPr id="429" name="Google Shape;429;p24"/>
          <p:cNvSpPr txBox="1"/>
          <p:nvPr/>
        </p:nvSpPr>
        <p:spPr>
          <a:xfrm>
            <a:off x="5051375" y="2474565"/>
            <a:ext cx="2453587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Auth. JWT</a:t>
            </a:r>
            <a:endParaRPr lang="fr-FR" noProof="0" dirty="0"/>
          </a:p>
        </p:txBody>
      </p:sp>
      <p:sp>
        <p:nvSpPr>
          <p:cNvPr id="430" name="Google Shape;430;p24"/>
          <p:cNvSpPr txBox="1"/>
          <p:nvPr/>
        </p:nvSpPr>
        <p:spPr>
          <a:xfrm>
            <a:off x="4803725" y="2737395"/>
            <a:ext cx="25844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Remplacement du système de session par des </a:t>
            </a:r>
            <a:r>
              <a:rPr lang="fr-FR" sz="1050" b="0" i="0" u="none" strike="noStrike" cap="none" noProof="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tokens</a:t>
            </a:r>
            <a:r>
              <a:rPr lang="fr-FR" sz="105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JWT pour une sécurité API renforcée.</a:t>
            </a:r>
            <a:endParaRPr lang="fr-FR" noProof="0" dirty="0"/>
          </a:p>
        </p:txBody>
      </p:sp>
      <p:sp>
        <p:nvSpPr>
          <p:cNvPr id="431" name="Google Shape;431;p24"/>
          <p:cNvSpPr txBox="1"/>
          <p:nvPr/>
        </p:nvSpPr>
        <p:spPr>
          <a:xfrm>
            <a:off x="5051375" y="3575595"/>
            <a:ext cx="2453587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IA &amp; Prédictif</a:t>
            </a:r>
            <a:endParaRPr lang="fr-FR" noProof="0" dirty="0"/>
          </a:p>
        </p:txBody>
      </p:sp>
      <p:sp>
        <p:nvSpPr>
          <p:cNvPr id="432" name="Google Shape;432;p24"/>
          <p:cNvSpPr txBox="1"/>
          <p:nvPr/>
        </p:nvSpPr>
        <p:spPr>
          <a:xfrm>
            <a:off x="4803725" y="3838426"/>
            <a:ext cx="25844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Détection automatique des profils à risque via l'analyse poussée des courbes d'assiduité.</a:t>
            </a:r>
            <a:endParaRPr lang="fr-FR" noProof="0" dirty="0"/>
          </a:p>
        </p:txBody>
      </p:sp>
      <p:sp>
        <p:nvSpPr>
          <p:cNvPr id="433" name="Google Shape;433;p24"/>
          <p:cNvSpPr txBox="1"/>
          <p:nvPr/>
        </p:nvSpPr>
        <p:spPr>
          <a:xfrm>
            <a:off x="8512075" y="2474565"/>
            <a:ext cx="2453744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Génération PDF</a:t>
            </a:r>
            <a:endParaRPr lang="fr-FR" noProof="0" dirty="0"/>
          </a:p>
        </p:txBody>
      </p:sp>
      <p:sp>
        <p:nvSpPr>
          <p:cNvPr id="434" name="Google Shape;434;p24"/>
          <p:cNvSpPr txBox="1"/>
          <p:nvPr/>
        </p:nvSpPr>
        <p:spPr>
          <a:xfrm>
            <a:off x="8264425" y="2737395"/>
            <a:ext cx="258454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Production entièrement automatisée des bulletins et attestations officielles.</a:t>
            </a:r>
            <a:endParaRPr lang="fr-FR" noProof="0" dirty="0"/>
          </a:p>
        </p:txBody>
      </p:sp>
      <p:sp>
        <p:nvSpPr>
          <p:cNvPr id="435" name="Google Shape;435;p24"/>
          <p:cNvSpPr txBox="1"/>
          <p:nvPr/>
        </p:nvSpPr>
        <p:spPr>
          <a:xfrm>
            <a:off x="8512075" y="3375570"/>
            <a:ext cx="2453744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Multi-Tenant</a:t>
            </a:r>
            <a:endParaRPr lang="fr-FR" noProof="0" dirty="0"/>
          </a:p>
        </p:txBody>
      </p:sp>
      <p:sp>
        <p:nvSpPr>
          <p:cNvPr id="436" name="Google Shape;436;p24"/>
          <p:cNvSpPr txBox="1"/>
          <p:nvPr/>
        </p:nvSpPr>
        <p:spPr>
          <a:xfrm>
            <a:off x="8264425" y="3638401"/>
            <a:ext cx="2584549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0" i="0" u="none" strike="noStrike" cap="none" noProof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Extension du système PORTAL à d'autres établissements d'enseignement supérieur.</a:t>
            </a:r>
            <a:endParaRPr lang="fr-FR" noProof="0" dirty="0"/>
          </a:p>
        </p:txBody>
      </p:sp>
      <p:pic>
        <p:nvPicPr>
          <p:cNvPr id="437" name="Google Shape;437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43025" y="2491680"/>
            <a:ext cx="1333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2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343025" y="359271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2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803725" y="249168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2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803725" y="359271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2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264425" y="249168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24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264425" y="3392685"/>
            <a:ext cx="17145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Google Shape;447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48" name="Google Shape;448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7750" y="3366938"/>
            <a:ext cx="10096500" cy="13906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49" name="Google Shape;449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47750" y="1788765"/>
            <a:ext cx="2381250" cy="121146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50" name="Google Shape;450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19500" y="1788765"/>
            <a:ext cx="2381250" cy="121146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51" name="Google Shape;451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91250" y="1788765"/>
            <a:ext cx="2381250" cy="121146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52" name="Google Shape;452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763000" y="1788765"/>
            <a:ext cx="2381250" cy="121146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54" name="Google Shape;454;p25"/>
          <p:cNvSpPr txBox="1"/>
          <p:nvPr/>
        </p:nvSpPr>
        <p:spPr>
          <a:xfrm>
            <a:off x="1047750" y="952500"/>
            <a:ext cx="10601325" cy="40764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50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Bilan du Projet PORTAL</a:t>
            </a:r>
            <a:endParaRPr lang="fr-FR" noProof="0" dirty="0"/>
          </a:p>
        </p:txBody>
      </p:sp>
      <p:sp>
        <p:nvSpPr>
          <p:cNvPr id="455" name="Google Shape;455;p25"/>
          <p:cNvSpPr/>
          <p:nvPr/>
        </p:nvSpPr>
        <p:spPr>
          <a:xfrm>
            <a:off x="1047750" y="1483965"/>
            <a:ext cx="10096500" cy="1905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5"/>
          <p:cNvSpPr/>
          <p:nvPr/>
        </p:nvSpPr>
        <p:spPr>
          <a:xfrm>
            <a:off x="4185195" y="3776513"/>
            <a:ext cx="9525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5"/>
          <p:cNvSpPr/>
          <p:nvPr/>
        </p:nvSpPr>
        <p:spPr>
          <a:xfrm>
            <a:off x="7635031" y="3776513"/>
            <a:ext cx="9525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5"/>
          <p:cNvSpPr txBox="1"/>
          <p:nvPr/>
        </p:nvSpPr>
        <p:spPr>
          <a:xfrm>
            <a:off x="1047750" y="4961632"/>
            <a:ext cx="10096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0" i="0" u="none" strike="noStrike" cap="none" noProof="0" dirty="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Merci de votre attention.</a:t>
            </a:r>
            <a:endParaRPr lang="fr-FR" noProof="0" dirty="0"/>
          </a:p>
        </p:txBody>
      </p:sp>
      <p:sp>
        <p:nvSpPr>
          <p:cNvPr id="459" name="Google Shape;459;p25"/>
          <p:cNvSpPr txBox="1"/>
          <p:nvPr/>
        </p:nvSpPr>
        <p:spPr>
          <a:xfrm>
            <a:off x="2286000" y="5300067"/>
            <a:ext cx="76200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9006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Nous </a:t>
            </a:r>
            <a:r>
              <a:rPr lang="en-US" sz="1200" i="1" dirty="0" err="1">
                <a:solidFill>
                  <a:srgbClr val="29006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remercions</a:t>
            </a:r>
            <a:r>
              <a:rPr lang="en-US" sz="1200" i="1" dirty="0">
                <a:solidFill>
                  <a:srgbClr val="29006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29006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chaleureusement</a:t>
            </a:r>
            <a:r>
              <a:rPr lang="en-US" sz="1200" i="1" dirty="0">
                <a:solidFill>
                  <a:srgbClr val="29006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Pr. </a:t>
            </a:r>
            <a:r>
              <a:rPr lang="en-US" sz="1200" i="1" dirty="0" err="1">
                <a:solidFill>
                  <a:srgbClr val="29006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Abroun</a:t>
            </a:r>
            <a:r>
              <a:rPr lang="en-US" sz="1200" i="1" dirty="0">
                <a:solidFill>
                  <a:srgbClr val="29006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29006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Soundouss</a:t>
            </a:r>
            <a:r>
              <a:rPr lang="en-US" sz="1200" i="1" dirty="0">
                <a:solidFill>
                  <a:srgbClr val="29006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pour son </a:t>
            </a:r>
            <a:r>
              <a:rPr lang="en-US" sz="1200" i="1" dirty="0" err="1">
                <a:solidFill>
                  <a:srgbClr val="29006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encadrement</a:t>
            </a:r>
            <a:r>
              <a:rPr lang="en-US" sz="1200" i="1" dirty="0">
                <a:solidFill>
                  <a:srgbClr val="29006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i="1" dirty="0" err="1">
                <a:solidFill>
                  <a:srgbClr val="29006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ses</a:t>
            </a:r>
            <a:r>
              <a:rPr lang="en-US" sz="1200" i="1" dirty="0">
                <a:solidFill>
                  <a:srgbClr val="29006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conseils</a:t>
            </a:r>
            <a:endParaRPr lang="en-US" sz="1200" i="1" dirty="0">
              <a:solidFill>
                <a:srgbClr val="290060"/>
              </a:solidFill>
              <a:latin typeface="Montserrat" pitchFamily="2" charset="0"/>
            </a:endParaRPr>
          </a:p>
          <a:p>
            <a:pPr marL="0" indent="0" algn="ctr">
              <a:buNone/>
            </a:pPr>
            <a:r>
              <a:rPr lang="en-US" sz="1200" i="1" dirty="0">
                <a:solidFill>
                  <a:srgbClr val="29006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et </a:t>
            </a:r>
            <a:r>
              <a:rPr lang="en-US" sz="1200" i="1" dirty="0" err="1">
                <a:solidFill>
                  <a:srgbClr val="29006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sa</a:t>
            </a:r>
            <a:r>
              <a:rPr lang="en-US" sz="1200" i="1" dirty="0">
                <a:solidFill>
                  <a:srgbClr val="29006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29006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disponibilité</a:t>
            </a:r>
            <a:r>
              <a:rPr lang="en-US" sz="1200" i="1" dirty="0">
                <a:solidFill>
                  <a:srgbClr val="29006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tout au long de </a:t>
            </a:r>
            <a:r>
              <a:rPr lang="en-US" sz="1200" i="1" dirty="0" err="1">
                <a:solidFill>
                  <a:srgbClr val="29006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ce</a:t>
            </a:r>
            <a:r>
              <a:rPr lang="en-US" sz="1200" i="1" dirty="0">
                <a:solidFill>
                  <a:srgbClr val="29006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29006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projet</a:t>
            </a:r>
            <a:endParaRPr lang="en-US" sz="1200" i="1" dirty="0">
              <a:solidFill>
                <a:srgbClr val="290060"/>
              </a:solidFill>
              <a:latin typeface="Montserrat" pitchFamily="2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200" i="1" dirty="0">
                <a:solidFill>
                  <a:srgbClr val="29006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Nos </a:t>
            </a:r>
            <a:r>
              <a:rPr lang="en-US" sz="1200" i="1" dirty="0" err="1">
                <a:solidFill>
                  <a:srgbClr val="29006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remerciements</a:t>
            </a:r>
            <a:r>
              <a:rPr lang="en-US" sz="1200" i="1" dirty="0">
                <a:solidFill>
                  <a:srgbClr val="29006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29006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vont</a:t>
            </a:r>
            <a:r>
              <a:rPr lang="en-US" sz="1200" i="1" dirty="0">
                <a:solidFill>
                  <a:srgbClr val="29006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29006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également</a:t>
            </a:r>
            <a:r>
              <a:rPr lang="en-US" sz="1200" i="1" dirty="0">
                <a:solidFill>
                  <a:srgbClr val="29006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à </a:t>
            </a:r>
            <a:r>
              <a:rPr lang="en-US" sz="1200" i="1" dirty="0" err="1">
                <a:solidFill>
                  <a:srgbClr val="29006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l'EMSI</a:t>
            </a:r>
            <a:r>
              <a:rPr lang="en-US" sz="1200" i="1" dirty="0">
                <a:solidFill>
                  <a:srgbClr val="29006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Tanger pour les </a:t>
            </a:r>
            <a:r>
              <a:rPr lang="en-US" sz="1200" i="1" dirty="0" err="1">
                <a:solidFill>
                  <a:srgbClr val="29006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ressources</a:t>
            </a:r>
            <a:r>
              <a:rPr lang="en-US" sz="1200" i="1" dirty="0">
                <a:solidFill>
                  <a:srgbClr val="29006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29006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pédagogiques</a:t>
            </a:r>
            <a:r>
              <a:rPr lang="en-US" sz="1200" i="1" dirty="0">
                <a:solidFill>
                  <a:srgbClr val="29006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mises à disposition.</a:t>
            </a:r>
            <a:endParaRPr lang="en-US" sz="1200" i="1" dirty="0">
              <a:solidFill>
                <a:srgbClr val="290060"/>
              </a:solidFill>
              <a:latin typeface="Montserrat" pitchFamily="2" charset="0"/>
            </a:endParaRPr>
          </a:p>
          <a:p>
            <a:pPr marL="0" indent="0" algn="ctr">
              <a:buNone/>
            </a:pPr>
            <a:endParaRPr lang="fr-FR" sz="1200" i="1" noProof="0" dirty="0">
              <a:solidFill>
                <a:srgbClr val="290060"/>
              </a:solidFill>
              <a:latin typeface="Montserrat" pitchFamily="2" charset="0"/>
            </a:endParaRPr>
          </a:p>
        </p:txBody>
      </p:sp>
      <p:pic>
        <p:nvPicPr>
          <p:cNvPr id="460" name="Google Shape;460;p2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66925" y="1988790"/>
            <a:ext cx="342900" cy="3048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61" name="Google Shape;461;p25"/>
          <p:cNvSpPr txBox="1"/>
          <p:nvPr/>
        </p:nvSpPr>
        <p:spPr>
          <a:xfrm>
            <a:off x="1693306" y="2407890"/>
            <a:ext cx="1090136" cy="18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Architecture</a:t>
            </a:r>
            <a:endParaRPr lang="fr-FR" noProof="0" dirty="0"/>
          </a:p>
        </p:txBody>
      </p:sp>
      <p:sp>
        <p:nvSpPr>
          <p:cNvPr id="462" name="Google Shape;462;p25"/>
          <p:cNvSpPr txBox="1"/>
          <p:nvPr/>
        </p:nvSpPr>
        <p:spPr>
          <a:xfrm>
            <a:off x="1600200" y="2647801"/>
            <a:ext cx="12763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75" b="0" i="0" u="none" strike="noStrike" cap="none" noProof="0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Robuste &amp; Découplée</a:t>
            </a:r>
            <a:endParaRPr lang="fr-FR" noProof="0" dirty="0"/>
          </a:p>
        </p:txBody>
      </p:sp>
      <p:pic>
        <p:nvPicPr>
          <p:cNvPr id="463" name="Google Shape;463;p2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638675" y="1988790"/>
            <a:ext cx="342900" cy="3048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64" name="Google Shape;464;p25"/>
          <p:cNvSpPr txBox="1"/>
          <p:nvPr/>
        </p:nvSpPr>
        <p:spPr>
          <a:xfrm>
            <a:off x="4300061" y="2407890"/>
            <a:ext cx="1020127" cy="18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UX Moderne</a:t>
            </a:r>
            <a:endParaRPr lang="fr-FR" noProof="0" dirty="0"/>
          </a:p>
        </p:txBody>
      </p:sp>
      <p:sp>
        <p:nvSpPr>
          <p:cNvPr id="465" name="Google Shape;465;p25"/>
          <p:cNvSpPr txBox="1"/>
          <p:nvPr/>
        </p:nvSpPr>
        <p:spPr>
          <a:xfrm>
            <a:off x="4133850" y="2647801"/>
            <a:ext cx="13525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75" b="0" i="0" u="none" strike="noStrike" cap="none" noProof="0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Design </a:t>
            </a:r>
            <a:r>
              <a:rPr lang="fr-FR" sz="975" b="0" i="0" u="none" strike="noStrike" cap="none" noProof="0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Glassmorphism</a:t>
            </a:r>
            <a:endParaRPr lang="fr-FR" noProof="0" dirty="0"/>
          </a:p>
        </p:txBody>
      </p:sp>
      <p:pic>
        <p:nvPicPr>
          <p:cNvPr id="466" name="Google Shape;466;p2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229475" y="1988790"/>
            <a:ext cx="304800" cy="3048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67" name="Google Shape;467;p25"/>
          <p:cNvSpPr txBox="1"/>
          <p:nvPr/>
        </p:nvSpPr>
        <p:spPr>
          <a:xfrm>
            <a:off x="6701790" y="2407890"/>
            <a:ext cx="1360170" cy="18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Fonctionnalités</a:t>
            </a:r>
            <a:endParaRPr lang="fr-FR" noProof="0" dirty="0"/>
          </a:p>
        </p:txBody>
      </p:sp>
      <p:sp>
        <p:nvSpPr>
          <p:cNvPr id="468" name="Google Shape;468;p25"/>
          <p:cNvSpPr txBox="1"/>
          <p:nvPr/>
        </p:nvSpPr>
        <p:spPr>
          <a:xfrm>
            <a:off x="6848475" y="2647801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75" b="0" i="0" u="none" strike="noStrike" cap="none" noProof="0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Gestion Complète</a:t>
            </a:r>
            <a:endParaRPr lang="fr-FR" noProof="0" dirty="0"/>
          </a:p>
        </p:txBody>
      </p:sp>
      <p:pic>
        <p:nvPicPr>
          <p:cNvPr id="469" name="Google Shape;469;p2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782175" y="1988790"/>
            <a:ext cx="342900" cy="3048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70" name="Google Shape;470;p25"/>
          <p:cNvSpPr txBox="1"/>
          <p:nvPr/>
        </p:nvSpPr>
        <p:spPr>
          <a:xfrm>
            <a:off x="9493567" y="2407890"/>
            <a:ext cx="920115" cy="18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 i="0" u="none" strike="noStrike" cap="none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Évolutivité</a:t>
            </a:r>
            <a:endParaRPr lang="fr-FR" noProof="0" dirty="0"/>
          </a:p>
        </p:txBody>
      </p:sp>
      <p:sp>
        <p:nvSpPr>
          <p:cNvPr id="471" name="Google Shape;471;p25"/>
          <p:cNvSpPr txBox="1"/>
          <p:nvPr/>
        </p:nvSpPr>
        <p:spPr>
          <a:xfrm>
            <a:off x="9291637" y="2647801"/>
            <a:ext cx="13239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75" b="0" i="0" u="none" strike="noStrike" cap="none" noProof="0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Prêt pour l'IA &amp; Mobile</a:t>
            </a:r>
            <a:endParaRPr lang="fr-FR" noProof="0" dirty="0"/>
          </a:p>
        </p:txBody>
      </p:sp>
      <p:sp>
        <p:nvSpPr>
          <p:cNvPr id="472" name="Google Shape;472;p25"/>
          <p:cNvSpPr txBox="1"/>
          <p:nvPr/>
        </p:nvSpPr>
        <p:spPr>
          <a:xfrm>
            <a:off x="2026890" y="3700313"/>
            <a:ext cx="11525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 b="1" i="0" u="none" strike="noStrike" cap="none" noProof="0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lang="fr-FR" noProof="0" dirty="0"/>
          </a:p>
        </p:txBody>
      </p:sp>
      <p:sp>
        <p:nvSpPr>
          <p:cNvPr id="473" name="Google Shape;473;p25"/>
          <p:cNvSpPr txBox="1"/>
          <p:nvPr/>
        </p:nvSpPr>
        <p:spPr>
          <a:xfrm>
            <a:off x="2026890" y="4233713"/>
            <a:ext cx="11525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0" i="0" u="none" strike="noStrike" cap="none" noProof="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Rôles Utilisateur</a:t>
            </a:r>
            <a:endParaRPr lang="fr-FR" noProof="0" dirty="0"/>
          </a:p>
        </p:txBody>
      </p:sp>
      <p:sp>
        <p:nvSpPr>
          <p:cNvPr id="474" name="Google Shape;474;p25"/>
          <p:cNvSpPr txBox="1"/>
          <p:nvPr/>
        </p:nvSpPr>
        <p:spPr>
          <a:xfrm>
            <a:off x="5200501" y="3700313"/>
            <a:ext cx="14287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 b="1" i="0" u="none" strike="noStrike" cap="none" noProof="0" dirty="0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10+</a:t>
            </a:r>
            <a:endParaRPr lang="fr-FR" noProof="0" dirty="0"/>
          </a:p>
        </p:txBody>
      </p:sp>
      <p:sp>
        <p:nvSpPr>
          <p:cNvPr id="475" name="Google Shape;475;p25"/>
          <p:cNvSpPr txBox="1"/>
          <p:nvPr/>
        </p:nvSpPr>
        <p:spPr>
          <a:xfrm>
            <a:off x="5200501" y="4233713"/>
            <a:ext cx="14287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0" i="0" u="none" strike="noStrike" cap="none" noProof="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Endpoints</a:t>
            </a:r>
            <a:r>
              <a:rPr lang="fr-FR" sz="1200" b="0" i="0" u="none" strike="noStrike" cap="none" noProof="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API REST</a:t>
            </a:r>
            <a:endParaRPr lang="fr-FR" noProof="0" dirty="0"/>
          </a:p>
        </p:txBody>
      </p:sp>
      <p:sp>
        <p:nvSpPr>
          <p:cNvPr id="476" name="Google Shape;476;p25"/>
          <p:cNvSpPr txBox="1"/>
          <p:nvPr/>
        </p:nvSpPr>
        <p:spPr>
          <a:xfrm>
            <a:off x="8650337" y="3700313"/>
            <a:ext cx="15144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 b="1" i="0" u="none" strike="noStrike" cap="none" noProof="0" dirty="0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8+</a:t>
            </a:r>
            <a:endParaRPr lang="fr-FR" noProof="0" dirty="0"/>
          </a:p>
        </p:txBody>
      </p:sp>
      <p:sp>
        <p:nvSpPr>
          <p:cNvPr id="477" name="Google Shape;477;p25"/>
          <p:cNvSpPr txBox="1"/>
          <p:nvPr/>
        </p:nvSpPr>
        <p:spPr>
          <a:xfrm>
            <a:off x="8650337" y="4233713"/>
            <a:ext cx="15144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0" i="0" u="none" strike="noStrike" cap="none" noProof="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Modèles de Données</a:t>
            </a:r>
            <a:endParaRPr lang="fr-FR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>
          <a:extLst>
            <a:ext uri="{FF2B5EF4-FFF2-40B4-BE49-F238E27FC236}">
              <a16:creationId xmlns:a16="http://schemas.microsoft.com/office/drawing/2014/main" id="{D98E961A-9244-3A3A-4EE9-B39A5C3CA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Google Shape;447;p25" descr="image.png">
            <a:extLst>
              <a:ext uri="{FF2B5EF4-FFF2-40B4-BE49-F238E27FC236}">
                <a16:creationId xmlns:a16="http://schemas.microsoft.com/office/drawing/2014/main" id="{38FFB442-9BC2-7054-97FF-235599F53B5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25" descr="image.png">
            <a:extLst>
              <a:ext uri="{FF2B5EF4-FFF2-40B4-BE49-F238E27FC236}">
                <a16:creationId xmlns:a16="http://schemas.microsoft.com/office/drawing/2014/main" id="{0DD0360E-A0B4-BE8F-2173-F793375F939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58" name="Google Shape;458;p25">
            <a:extLst>
              <a:ext uri="{FF2B5EF4-FFF2-40B4-BE49-F238E27FC236}">
                <a16:creationId xmlns:a16="http://schemas.microsoft.com/office/drawing/2014/main" id="{82B98A7A-58EA-5626-5C9E-849FA9972AE4}"/>
              </a:ext>
            </a:extLst>
          </p:cNvPr>
          <p:cNvSpPr txBox="1"/>
          <p:nvPr/>
        </p:nvSpPr>
        <p:spPr>
          <a:xfrm>
            <a:off x="1047750" y="3059668"/>
            <a:ext cx="10096500" cy="73866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800" b="1" i="0" u="none" strike="noStrike" cap="none" noProof="0" dirty="0">
                <a:solidFill>
                  <a:srgbClr val="5B00E2"/>
                </a:solidFill>
                <a:latin typeface="Montserrat" pitchFamily="2" charset="0"/>
                <a:ea typeface="Inter SemiBold"/>
                <a:cs typeface="Inter SemiBold"/>
                <a:sym typeface="Inter SemiBold"/>
              </a:rPr>
              <a:t>Merci de votre attention.</a:t>
            </a:r>
            <a:endParaRPr lang="fr-FR" sz="4800" b="1" noProof="0" dirty="0">
              <a:solidFill>
                <a:srgbClr val="5B00E2"/>
              </a:solidFill>
              <a:latin typeface="Montserrat" pitchFamily="2" charset="0"/>
            </a:endParaRPr>
          </a:p>
        </p:txBody>
      </p:sp>
      <p:sp>
        <p:nvSpPr>
          <p:cNvPr id="459" name="Google Shape;459;p25">
            <a:extLst>
              <a:ext uri="{FF2B5EF4-FFF2-40B4-BE49-F238E27FC236}">
                <a16:creationId xmlns:a16="http://schemas.microsoft.com/office/drawing/2014/main" id="{37BA3577-F55C-6BE7-2A4F-0A265C3336A8}"/>
              </a:ext>
            </a:extLst>
          </p:cNvPr>
          <p:cNvSpPr txBox="1"/>
          <p:nvPr/>
        </p:nvSpPr>
        <p:spPr>
          <a:xfrm>
            <a:off x="2286000" y="4141232"/>
            <a:ext cx="762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0" i="0" u="none" strike="noStrike" cap="none" noProof="0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Le projet PORTAL démontre qu'une gestion académique peut être à la fois rigoureuse sur le plan technique et particulièrement agréable sur le plan visuel.</a:t>
            </a:r>
            <a:endParaRPr lang="fr-FR" noProof="0" dirty="0"/>
          </a:p>
        </p:txBody>
      </p:sp>
      <p:pic>
        <p:nvPicPr>
          <p:cNvPr id="11" name="Picture 10">
            <a:hlinkClick r:id="rId5"/>
            <a:extLst>
              <a:ext uri="{FF2B5EF4-FFF2-40B4-BE49-F238E27FC236}">
                <a16:creationId xmlns:a16="http://schemas.microsoft.com/office/drawing/2014/main" id="{08DFE6E3-5AFE-F19C-30A0-CD2465B4147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A4FF1D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6366824" y="5005002"/>
            <a:ext cx="2146687" cy="608547"/>
          </a:xfrm>
          <a:prstGeom prst="rect">
            <a:avLst/>
          </a:prstGeom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CC13010-CF44-08C3-8B7A-054B745E49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6406" y="1551980"/>
            <a:ext cx="1199188" cy="126896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>
            <a:hlinkClick r:id="rId8"/>
            <a:extLst>
              <a:ext uri="{FF2B5EF4-FFF2-40B4-BE49-F238E27FC236}">
                <a16:creationId xmlns:a16="http://schemas.microsoft.com/office/drawing/2014/main" id="{05D78510-A98E-438B-8DEB-6515086C2F3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716"/>
          <a:stretch>
            <a:fillRect/>
          </a:stretch>
        </p:blipFill>
        <p:spPr>
          <a:xfrm>
            <a:off x="4474369" y="4797190"/>
            <a:ext cx="1022037" cy="101766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67917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1131</Words>
  <Application>Microsoft Office PowerPoint</Application>
  <PresentationFormat>Widescreen</PresentationFormat>
  <Paragraphs>178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Poppins</vt:lpstr>
      <vt:lpstr>Inter</vt:lpstr>
      <vt:lpstr>Arial</vt:lpstr>
      <vt:lpstr>Inter SemiBold</vt:lpstr>
      <vt:lpstr>Montserrat</vt:lpstr>
      <vt:lpstr>Calibri</vt:lpstr>
      <vt:lpstr>Inter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Owais BAKKALI</cp:lastModifiedBy>
  <cp:revision>20</cp:revision>
  <dcterms:modified xsi:type="dcterms:W3CDTF">2026-06-06T19:05:06Z</dcterms:modified>
</cp:coreProperties>
</file>